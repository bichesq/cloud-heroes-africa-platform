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this deck explains how the two apps' data moved off separate JSON files onto one shared Postgres database, what's in that database, how the tables relate, and which decisions are still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Until recently each app read/wrote its own plain JSON files on disk — no real database. Both apps have now been migrated onto one shared Postgres database, accessed through Prisma.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 is split across three files. Learning Platform is the sole migration runner even for the 8 shared/local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tour of the six domains before we zoom into the assessment engine and then the full relationship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Standalone assessments pull from a randomized, difficulty-tagged question bank; every attempt is fully tracked question-by-question, which is what lets retakes re-randomize while keeping an exact historical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simplified relationship map, not a full field-level ER diagram: minor tables are grouped into their cluster (e.g. Progress &amp; Tokens covers five underlying tables) to keep this readable on one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practical, temporary conventions to avoid write conflicts and migration collisions — not a final ownership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Covers approved emails, students, support tickets, audit log, todos, events, and Student Hub's mock catalog.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 getting an explicit yes/no on these three today rather than letting them sit as implicit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getting explicit answers on the three open questions rather than leaving them implicit.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1.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869680" y="-1463040"/>
            <a:ext cx="5029200" cy="5029200"/>
          </a:xfrm>
          <a:prstGeom prst="ellipse">
            <a:avLst/>
          </a:prstGeom>
          <a:solidFill>
            <a:srgbClr val="1C7293">
              <a:alpha val="22000"/>
            </a:srgbClr>
          </a:solidFill>
          <a:ln/>
        </p:spPr>
      </p:sp>
      <p:sp>
        <p:nvSpPr>
          <p:cNvPr id="3" name="Shape 1"/>
          <p:cNvSpPr/>
          <p:nvPr/>
        </p:nvSpPr>
        <p:spPr>
          <a:xfrm>
            <a:off x="10332720" y="4206240"/>
            <a:ext cx="3291840" cy="3291840"/>
          </a:xfrm>
          <a:prstGeom prst="ellipse">
            <a:avLst/>
          </a:prstGeom>
          <a:solidFill>
            <a:srgbClr val="5FB4A2">
              <a:alpha val="18000"/>
            </a:srgbClr>
          </a:solidFill>
          <a:ln/>
        </p:spPr>
      </p:sp>
      <p:sp>
        <p:nvSpPr>
          <p:cNvPr id="4" name="Shape 2"/>
          <p:cNvSpPr/>
          <p:nvPr/>
        </p:nvSpPr>
        <p:spPr>
          <a:xfrm>
            <a:off x="640080" y="822960"/>
            <a:ext cx="1051560" cy="1051560"/>
          </a:xfrm>
          <a:prstGeom prst="ellipse">
            <a:avLst/>
          </a:prstGeom>
          <a:solidFill>
            <a:srgbClr val="1C7293"/>
          </a:solidFill>
          <a:ln/>
          <a:effectLst>
            <a:outerShdw sx="100000" sy="100000" kx="0" ky="0" algn="bl" rotWithShape="0" blurRad="76200" dist="25400" dir="5400000">
              <a:srgbClr val="0B1B2B">
                <a:alpha val="18000"/>
              </a:srgbClr>
            </a:outerShdw>
          </a:effectLst>
        </p:spPr>
      </p:sp>
      <p:pic>
        <p:nvPicPr>
          <p:cNvPr id="5" name="Image 0" descr="C:\Users\USER\AppData\Local\Temp\claude\C--Users-biche-cloud-heroes-africa-platform\c742e88a-fbba-45b1-8382-f8dad19948a7\scratchpad\pptx-build\icons\database_FFFFFF.png">    </p:cNvPr>
          <p:cNvPicPr>
            <a:picLocks noChangeAspect="1"/>
          </p:cNvPicPr>
          <p:nvPr/>
        </p:nvPicPr>
        <p:blipFill>
          <a:blip r:embed="rId1"/>
          <a:stretch>
            <a:fillRect/>
          </a:stretch>
        </p:blipFill>
        <p:spPr>
          <a:xfrm>
            <a:off x="896112" y="1078992"/>
            <a:ext cx="539496" cy="539496"/>
          </a:xfrm>
          <a:prstGeom prst="rect">
            <a:avLst/>
          </a:prstGeom>
        </p:spPr>
      </p:pic>
      <p:sp>
        <p:nvSpPr>
          <p:cNvPr id="6" name="Text 3"/>
          <p:cNvSpPr txBox="1"/>
          <p:nvPr/>
        </p:nvSpPr>
        <p:spPr>
          <a:xfrm>
            <a:off x="640080" y="2240280"/>
            <a:ext cx="8229600" cy="365760"/>
          </a:xfrm>
          <a:prstGeom prst="rect">
            <a:avLst/>
          </a:prstGeom>
          <a:noFill/>
          <a:ln/>
        </p:spPr>
        <p:txBody>
          <a:bodyPr wrap="square" lIns="0" tIns="0" rIns="0" bIns="0" rtlCol="0" anchor="ctr"/>
          <a:lstStyle/>
          <a:p>
            <a:pPr indent="0" marL="0">
              <a:buNone/>
            </a:pPr>
            <a:r>
              <a:rPr lang="en-US" sz="1500" b="1" spc="300" kern="0" dirty="0">
                <a:solidFill>
                  <a:srgbClr val="9FD3E8"/>
                </a:solidFill>
                <a:latin typeface="Calibri" pitchFamily="34" charset="0"/>
                <a:ea typeface="Calibri" pitchFamily="34" charset="-122"/>
                <a:cs typeface="Calibri" pitchFamily="34" charset="-120"/>
              </a:rPr>
              <a:t>CLOUD HEROES AFRICA PLATFORM</a:t>
            </a:r>
            <a:endParaRPr lang="en-US" sz="1500" dirty="0"/>
          </a:p>
        </p:txBody>
      </p:sp>
      <p:sp>
        <p:nvSpPr>
          <p:cNvPr id="7" name="Text 4"/>
          <p:cNvSpPr txBox="1"/>
          <p:nvPr/>
        </p:nvSpPr>
        <p:spPr>
          <a:xfrm>
            <a:off x="594360" y="2606040"/>
            <a:ext cx="9601200" cy="1828800"/>
          </a:xfrm>
          <a:prstGeom prst="rect">
            <a:avLst/>
          </a:prstGeom>
          <a:noFill/>
          <a:ln/>
        </p:spPr>
        <p:txBody>
          <a:bodyPr wrap="square" lIns="0" tIns="0" rIns="0" bIns="0" rtlCol="0" anchor="ctr"/>
          <a:lstStyle/>
          <a:p>
            <a:pPr indent="0" marL="0">
              <a:lnSpc>
                <a:spcPct val="108000"/>
              </a:lnSpc>
              <a:buNone/>
            </a:pPr>
            <a:r>
              <a:rPr lang="en-US" sz="4400" b="1" dirty="0">
                <a:solidFill>
                  <a:srgbClr val="FFFFFF"/>
                </a:solidFill>
                <a:latin typeface="Cambria" pitchFamily="34" charset="0"/>
                <a:ea typeface="Cambria" pitchFamily="34" charset="-122"/>
                <a:cs typeface="Cambria" pitchFamily="34" charset="-120"/>
              </a:rPr>
              <a:t>How the Platform's Database</a:t>
            </a:r>
            <a:endParaRPr lang="en-US" sz="4400" dirty="0"/>
          </a:p>
          <a:p>
            <a:pPr indent="0" marL="0">
              <a:lnSpc>
                <a:spcPct val="108000"/>
              </a:lnSpc>
              <a:buNone/>
            </a:pPr>
            <a:r>
              <a:rPr lang="en-US" sz="4400" b="1" dirty="0">
                <a:solidFill>
                  <a:srgbClr val="FFFFFF"/>
                </a:solidFill>
                <a:latin typeface="Cambria" pitchFamily="34" charset="0"/>
                <a:ea typeface="Cambria" pitchFamily="34" charset="-122"/>
                <a:cs typeface="Cambria" pitchFamily="34" charset="-120"/>
              </a:rPr>
              <a:t>Is Designed</a:t>
            </a:r>
            <a:endParaRPr lang="en-US" sz="4400" dirty="0"/>
          </a:p>
        </p:txBody>
      </p:sp>
      <p:sp>
        <p:nvSpPr>
          <p:cNvPr id="8" name="Text 5"/>
          <p:cNvSpPr txBox="1"/>
          <p:nvPr/>
        </p:nvSpPr>
        <p:spPr>
          <a:xfrm>
            <a:off x="640080" y="4434840"/>
            <a:ext cx="8046720" cy="548640"/>
          </a:xfrm>
          <a:prstGeom prst="rect">
            <a:avLst/>
          </a:prstGeom>
          <a:noFill/>
          <a:ln/>
        </p:spPr>
        <p:txBody>
          <a:bodyPr wrap="square" lIns="0" tIns="0" rIns="0" bIns="0" rtlCol="0" anchor="ctr"/>
          <a:lstStyle/>
          <a:p>
            <a:pPr indent="0" marL="0">
              <a:buNone/>
            </a:pPr>
            <a:r>
              <a:rPr lang="en-US" sz="1600" i="1" dirty="0">
                <a:solidFill>
                  <a:srgbClr val="C9DCE6"/>
                </a:solidFill>
                <a:latin typeface="Calibri" pitchFamily="34" charset="0"/>
                <a:ea typeface="Calibri" pitchFamily="34" charset="-122"/>
                <a:cs typeface="Calibri" pitchFamily="34" charset="-120"/>
              </a:rPr>
              <a:t>One shared database, two apps, and the rules that keep them from stepping on each other.</a:t>
            </a:r>
            <a:endParaRPr lang="en-US" sz="1600" dirty="0"/>
          </a:p>
        </p:txBody>
      </p:sp>
      <p:sp>
        <p:nvSpPr>
          <p:cNvPr id="9" name="Text 6"/>
          <p:cNvSpPr txBox="1"/>
          <p:nvPr/>
        </p:nvSpPr>
        <p:spPr>
          <a:xfrm>
            <a:off x="640080" y="6126480"/>
            <a:ext cx="5486400" cy="365760"/>
          </a:xfrm>
          <a:prstGeom prst="rect">
            <a:avLst/>
          </a:prstGeom>
          <a:noFill/>
          <a:ln/>
        </p:spPr>
        <p:txBody>
          <a:bodyPr wrap="square" lIns="0" tIns="0" rIns="0" bIns="0" rtlCol="0" anchor="ctr"/>
          <a:lstStyle/>
          <a:p>
            <a:pPr indent="0" marL="0">
              <a:buNone/>
            </a:pPr>
            <a:r>
              <a:rPr lang="en-US" sz="1200" dirty="0">
                <a:solidFill>
                  <a:srgbClr val="7FA8BC"/>
                </a:solidFill>
                <a:latin typeface="Calibri" pitchFamily="34" charset="0"/>
                <a:ea typeface="Calibri" pitchFamily="34" charset="-122"/>
                <a:cs typeface="Calibri" pitchFamily="34" charset="-120"/>
              </a:rPr>
              <a:t>Team sync  ·  2026-09-14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05156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BIG PICTURE</a:t>
            </a:r>
            <a:endParaRPr lang="en-US" sz="1300" dirty="0"/>
          </a:p>
        </p:txBody>
      </p:sp>
      <p:sp>
        <p:nvSpPr>
          <p:cNvPr id="3" name="Text 1"/>
          <p:cNvSpPr txBox="1"/>
          <p:nvPr/>
        </p:nvSpPr>
        <p:spPr>
          <a:xfrm>
            <a:off x="457200" y="621792"/>
            <a:ext cx="1124712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From Two Notebooks to One Shared Database</a:t>
            </a:r>
            <a:endParaRPr lang="en-US" sz="3000" dirty="0"/>
          </a:p>
        </p:txBody>
      </p:sp>
      <p:sp>
        <p:nvSpPr>
          <p:cNvPr id="4" name="Text 2"/>
          <p:cNvSpPr txBox="1"/>
          <p:nvPr/>
        </p:nvSpPr>
        <p:spPr>
          <a:xfrm>
            <a:off x="548640" y="1417320"/>
            <a:ext cx="5120640" cy="320040"/>
          </a:xfrm>
          <a:prstGeom prst="rect">
            <a:avLst/>
          </a:prstGeom>
          <a:noFill/>
          <a:ln/>
        </p:spPr>
        <p:txBody>
          <a:bodyPr wrap="square" lIns="0" tIns="0" rIns="0" bIns="0" rtlCol="0" anchor="ctr"/>
          <a:lstStyle/>
          <a:p>
            <a:pPr indent="0" marL="0">
              <a:buNone/>
            </a:pPr>
            <a:r>
              <a:rPr lang="en-US" sz="1300" b="1" spc="200" kern="0" dirty="0">
                <a:solidFill>
                  <a:srgbClr val="5B6B79"/>
                </a:solidFill>
                <a:latin typeface="Calibri" pitchFamily="34" charset="0"/>
                <a:ea typeface="Calibri" pitchFamily="34" charset="-122"/>
                <a:cs typeface="Calibri" pitchFamily="34" charset="-120"/>
              </a:rPr>
              <a:t>BEFORE</a:t>
            </a:r>
            <a:endParaRPr lang="en-US" sz="1300" dirty="0"/>
          </a:p>
        </p:txBody>
      </p:sp>
      <p:sp>
        <p:nvSpPr>
          <p:cNvPr id="5" name="Shape 3"/>
          <p:cNvSpPr/>
          <p:nvPr/>
        </p:nvSpPr>
        <p:spPr>
          <a:xfrm>
            <a:off x="548640" y="1783080"/>
            <a:ext cx="5120640" cy="1417320"/>
          </a:xfrm>
          <a:prstGeom prst="roundRect">
            <a:avLst>
              <a:gd name="adj" fmla="val 5161"/>
            </a:avLst>
          </a:prstGeom>
          <a:solidFill>
            <a:srgbClr val="F1F5F8"/>
          </a:solidFill>
          <a:ln w="12700">
            <a:solidFill>
              <a:srgbClr val="DCE6EB"/>
            </a:solidFill>
            <a:prstDash val="solid"/>
          </a:ln>
          <a:effectLst>
            <a:outerShdw sx="100000" sy="100000" kx="0" ky="0" algn="bl" rotWithShape="0" blurRad="76200" dist="25400" dir="5400000">
              <a:srgbClr val="0B1B2B">
                <a:alpha val="18000"/>
              </a:srgbClr>
            </a:outerShdw>
          </a:effectLst>
        </p:spPr>
      </p:sp>
      <p:pic>
        <p:nvPicPr>
          <p:cNvPr id="6" name="Image 0" descr="C:\Users\USER\AppData\Local\Temp\claude\C--Users-biche-cloud-heroes-africa-platform\c742e88a-fbba-45b1-8382-f8dad19948a7\scratchpad\pptx-build\icons\list_065A82.png">    </p:cNvPr>
          <p:cNvPicPr>
            <a:picLocks noChangeAspect="1"/>
          </p:cNvPicPr>
          <p:nvPr/>
        </p:nvPicPr>
        <p:blipFill>
          <a:blip r:embed="rId1"/>
          <a:stretch>
            <a:fillRect/>
          </a:stretch>
        </p:blipFill>
        <p:spPr>
          <a:xfrm>
            <a:off x="822960" y="2011680"/>
            <a:ext cx="457200" cy="457200"/>
          </a:xfrm>
          <a:prstGeom prst="rect">
            <a:avLst/>
          </a:prstGeom>
        </p:spPr>
      </p:pic>
      <p:sp>
        <p:nvSpPr>
          <p:cNvPr id="7" name="Text 4"/>
          <p:cNvSpPr txBox="1"/>
          <p:nvPr/>
        </p:nvSpPr>
        <p:spPr>
          <a:xfrm>
            <a:off x="1463040" y="1965960"/>
            <a:ext cx="4023360" cy="10058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Student Hub</a:t>
            </a:r>
            <a:endParaRPr lang="en-US" sz="1400" dirty="0"/>
          </a:p>
          <a:p>
            <a:pPr indent="0" marL="0">
              <a:buNone/>
            </a:pPr>
            <a:r>
              <a:rPr lang="en-US" sz="1400" dirty="0">
                <a:solidFill>
                  <a:srgbClr val="5B6B79"/>
                </a:solidFill>
                <a:latin typeface="Calibri" pitchFamily="34" charset="0"/>
                <a:ea typeface="Calibri" pitchFamily="34" charset="-122"/>
                <a:cs typeface="Calibri" pitchFamily="34" charset="-120"/>
              </a:rPr>
              <a:t>keeps its own plain JSON files</a:t>
            </a:r>
            <a:endParaRPr lang="en-US" sz="1400" dirty="0"/>
          </a:p>
        </p:txBody>
      </p:sp>
      <p:sp>
        <p:nvSpPr>
          <p:cNvPr id="8" name="Shape 5"/>
          <p:cNvSpPr/>
          <p:nvPr/>
        </p:nvSpPr>
        <p:spPr>
          <a:xfrm>
            <a:off x="548640" y="3337560"/>
            <a:ext cx="5120640" cy="1417320"/>
          </a:xfrm>
          <a:prstGeom prst="roundRect">
            <a:avLst>
              <a:gd name="adj" fmla="val 5161"/>
            </a:avLst>
          </a:prstGeom>
          <a:solidFill>
            <a:srgbClr val="F1F5F8"/>
          </a:solidFill>
          <a:ln w="12700">
            <a:solidFill>
              <a:srgbClr val="DCE6EB"/>
            </a:solidFill>
            <a:prstDash val="solid"/>
          </a:ln>
          <a:effectLst>
            <a:outerShdw sx="100000" sy="100000" kx="0" ky="0" algn="bl" rotWithShape="0" blurRad="76200" dist="25400" dir="5400000">
              <a:srgbClr val="0B1B2B">
                <a:alpha val="18000"/>
              </a:srgbClr>
            </a:outerShdw>
          </a:effectLst>
        </p:spPr>
      </p:sp>
      <p:pic>
        <p:nvPicPr>
          <p:cNvPr id="9" name="Image 1" descr="C:\Users\USER\AppData\Local\Temp\claude\C--Users-biche-cloud-heroes-africa-platform\c742e88a-fbba-45b1-8382-f8dad19948a7\scratchpad\pptx-build\icons\list_065A82.png">    </p:cNvPr>
          <p:cNvPicPr>
            <a:picLocks noChangeAspect="1"/>
          </p:cNvPicPr>
          <p:nvPr/>
        </p:nvPicPr>
        <p:blipFill>
          <a:blip r:embed="rId2"/>
          <a:stretch>
            <a:fillRect/>
          </a:stretch>
        </p:blipFill>
        <p:spPr>
          <a:xfrm>
            <a:off x="822960" y="3566160"/>
            <a:ext cx="457200" cy="457200"/>
          </a:xfrm>
          <a:prstGeom prst="rect">
            <a:avLst/>
          </a:prstGeom>
        </p:spPr>
      </p:pic>
      <p:sp>
        <p:nvSpPr>
          <p:cNvPr id="10" name="Text 6"/>
          <p:cNvSpPr txBox="1"/>
          <p:nvPr/>
        </p:nvSpPr>
        <p:spPr>
          <a:xfrm>
            <a:off x="1463040" y="3520440"/>
            <a:ext cx="4023360" cy="10058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Learning Platform</a:t>
            </a:r>
            <a:endParaRPr lang="en-US" sz="1400" dirty="0"/>
          </a:p>
          <a:p>
            <a:pPr indent="0" marL="0">
              <a:buNone/>
            </a:pPr>
            <a:r>
              <a:rPr lang="en-US" sz="1400" dirty="0">
                <a:solidFill>
                  <a:srgbClr val="5B6B79"/>
                </a:solidFill>
                <a:latin typeface="Calibri" pitchFamily="34" charset="0"/>
                <a:ea typeface="Calibri" pitchFamily="34" charset="-122"/>
                <a:cs typeface="Calibri" pitchFamily="34" charset="-120"/>
              </a:rPr>
              <a:t>keeps its own, separate plain JSON files</a:t>
            </a:r>
            <a:endParaRPr lang="en-US" sz="1400" dirty="0"/>
          </a:p>
        </p:txBody>
      </p:sp>
      <p:sp>
        <p:nvSpPr>
          <p:cNvPr id="11" name="Text 7"/>
          <p:cNvSpPr txBox="1"/>
          <p:nvPr/>
        </p:nvSpPr>
        <p:spPr>
          <a:xfrm>
            <a:off x="548640" y="4892040"/>
            <a:ext cx="5120640" cy="822960"/>
          </a:xfrm>
          <a:prstGeom prst="rect">
            <a:avLst/>
          </a:prstGeom>
          <a:noFill/>
          <a:ln/>
        </p:spPr>
        <p:txBody>
          <a:bodyPr wrap="square" lIns="0" tIns="0" rIns="0" bIns="0" rtlCol="0" anchor="ctr"/>
          <a:lstStyle/>
          <a:p>
            <a:pPr indent="0" marL="0">
              <a:buNone/>
            </a:pPr>
            <a:r>
              <a:rPr lang="en-US" sz="1250" i="1" dirty="0">
                <a:solidFill>
                  <a:srgbClr val="5B6B79"/>
                </a:solidFill>
                <a:latin typeface="Calibri" pitchFamily="34" charset="0"/>
                <a:ea typeface="Calibri" pitchFamily="34" charset="-122"/>
                <a:cs typeface="Calibri" pitchFamily="34" charset="-120"/>
              </a:rPr>
              <a:t>Two disconnected notebooks — nothing keeps them consistent, and there's no easy way to ask a question across both.</a:t>
            </a:r>
            <a:endParaRPr lang="en-US" sz="1250" dirty="0"/>
          </a:p>
        </p:txBody>
      </p:sp>
      <p:sp>
        <p:nvSpPr>
          <p:cNvPr id="12" name="Text 8"/>
          <p:cNvSpPr txBox="1"/>
          <p:nvPr/>
        </p:nvSpPr>
        <p:spPr>
          <a:xfrm>
            <a:off x="6309360" y="1417320"/>
            <a:ext cx="530352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AFTER</a:t>
            </a:r>
            <a:endParaRPr lang="en-US" sz="1300" dirty="0"/>
          </a:p>
        </p:txBody>
      </p:sp>
      <p:sp>
        <p:nvSpPr>
          <p:cNvPr id="13" name="Shape 9"/>
          <p:cNvSpPr/>
          <p:nvPr/>
        </p:nvSpPr>
        <p:spPr>
          <a:xfrm>
            <a:off x="7612380" y="2331720"/>
            <a:ext cx="1531620" cy="960120"/>
          </a:xfrm>
          <a:prstGeom prst="line">
            <a:avLst/>
          </a:prstGeom>
          <a:noFill/>
          <a:ln w="25400">
            <a:solidFill>
              <a:srgbClr val="1C7293"/>
            </a:solidFill>
            <a:prstDash val="solid"/>
          </a:ln>
        </p:spPr>
      </p:sp>
      <p:sp>
        <p:nvSpPr>
          <p:cNvPr id="14" name="Shape 10"/>
          <p:cNvSpPr/>
          <p:nvPr/>
        </p:nvSpPr>
        <p:spPr>
          <a:xfrm flipV="1">
            <a:off x="9144000" y="2331720"/>
            <a:ext cx="1440180" cy="960120"/>
          </a:xfrm>
          <a:prstGeom prst="line">
            <a:avLst/>
          </a:prstGeom>
          <a:noFill/>
          <a:ln w="25400">
            <a:solidFill>
              <a:srgbClr val="1C7293"/>
            </a:solidFill>
            <a:prstDash val="solid"/>
          </a:ln>
        </p:spPr>
      </p:sp>
      <p:sp>
        <p:nvSpPr>
          <p:cNvPr id="15" name="Shape 11"/>
          <p:cNvSpPr/>
          <p:nvPr/>
        </p:nvSpPr>
        <p:spPr>
          <a:xfrm>
            <a:off x="6309360" y="1691640"/>
            <a:ext cx="2606040" cy="640080"/>
          </a:xfrm>
          <a:prstGeom prst="roundRect">
            <a:avLst>
              <a:gd name="adj" fmla="val 11429"/>
            </a:avLst>
          </a:prstGeom>
          <a:solidFill>
            <a:srgbClr val="FFFFFF"/>
          </a:solidFill>
          <a:ln w="15875">
            <a:solidFill>
              <a:srgbClr val="1C7293"/>
            </a:solidFill>
            <a:prstDash val="solid"/>
          </a:ln>
          <a:effectLst>
            <a:outerShdw sx="100000" sy="100000" kx="0" ky="0" algn="bl" rotWithShape="0" blurRad="76200" dist="25400" dir="5400000">
              <a:srgbClr val="0B1B2B">
                <a:alpha val="18000"/>
              </a:srgbClr>
            </a:outerShdw>
          </a:effectLst>
        </p:spPr>
      </p:sp>
      <p:sp>
        <p:nvSpPr>
          <p:cNvPr id="16" name="Text 12"/>
          <p:cNvSpPr txBox="1"/>
          <p:nvPr/>
        </p:nvSpPr>
        <p:spPr>
          <a:xfrm>
            <a:off x="6309360" y="1691640"/>
            <a:ext cx="2606040" cy="640080"/>
          </a:xfrm>
          <a:prstGeom prst="rect">
            <a:avLst/>
          </a:prstGeom>
          <a:noFill/>
          <a:ln/>
        </p:spPr>
        <p:txBody>
          <a:bodyPr wrap="square" lIns="0" tIns="0" rIns="0" bIns="0" rtlCol="0" anchor="ctr"/>
          <a:lstStyle/>
          <a:p>
            <a:pPr algn="ctr" indent="0" marL="0">
              <a:buNone/>
            </a:pPr>
            <a:r>
              <a:rPr lang="en-US" sz="1300" b="1" dirty="0">
                <a:solidFill>
                  <a:srgbClr val="065A82"/>
                </a:solidFill>
                <a:latin typeface="Calibri" pitchFamily="34" charset="0"/>
                <a:ea typeface="Calibri" pitchFamily="34" charset="-122"/>
                <a:cs typeface="Calibri" pitchFamily="34" charset="-120"/>
              </a:rPr>
              <a:t>Student Hub</a:t>
            </a:r>
            <a:endParaRPr lang="en-US" sz="1300" dirty="0"/>
          </a:p>
        </p:txBody>
      </p:sp>
      <p:sp>
        <p:nvSpPr>
          <p:cNvPr id="17" name="Shape 13"/>
          <p:cNvSpPr/>
          <p:nvPr/>
        </p:nvSpPr>
        <p:spPr>
          <a:xfrm>
            <a:off x="9281160" y="1691640"/>
            <a:ext cx="2606040" cy="640080"/>
          </a:xfrm>
          <a:prstGeom prst="roundRect">
            <a:avLst>
              <a:gd name="adj" fmla="val 11429"/>
            </a:avLst>
          </a:prstGeom>
          <a:solidFill>
            <a:srgbClr val="FFFFFF"/>
          </a:solidFill>
          <a:ln w="15875">
            <a:solidFill>
              <a:srgbClr val="1C7293"/>
            </a:solidFill>
            <a:prstDash val="solid"/>
          </a:ln>
          <a:effectLst>
            <a:outerShdw sx="100000" sy="100000" kx="0" ky="0" algn="bl" rotWithShape="0" blurRad="76200" dist="25400" dir="5400000">
              <a:srgbClr val="0B1B2B">
                <a:alpha val="18000"/>
              </a:srgbClr>
            </a:outerShdw>
          </a:effectLst>
        </p:spPr>
      </p:sp>
      <p:sp>
        <p:nvSpPr>
          <p:cNvPr id="18" name="Text 14"/>
          <p:cNvSpPr txBox="1"/>
          <p:nvPr/>
        </p:nvSpPr>
        <p:spPr>
          <a:xfrm>
            <a:off x="9281160" y="1691640"/>
            <a:ext cx="2606040" cy="640080"/>
          </a:xfrm>
          <a:prstGeom prst="rect">
            <a:avLst/>
          </a:prstGeom>
          <a:noFill/>
          <a:ln/>
        </p:spPr>
        <p:txBody>
          <a:bodyPr wrap="square" lIns="0" tIns="0" rIns="0" bIns="0" rtlCol="0" anchor="ctr"/>
          <a:lstStyle/>
          <a:p>
            <a:pPr algn="ctr" indent="0" marL="0">
              <a:buNone/>
            </a:pPr>
            <a:r>
              <a:rPr lang="en-US" sz="1250" b="1" dirty="0">
                <a:solidFill>
                  <a:srgbClr val="065A82"/>
                </a:solidFill>
                <a:latin typeface="Calibri" pitchFamily="34" charset="0"/>
                <a:ea typeface="Calibri" pitchFamily="34" charset="-122"/>
                <a:cs typeface="Calibri" pitchFamily="34" charset="-120"/>
              </a:rPr>
              <a:t>Learning Platform</a:t>
            </a:r>
            <a:endParaRPr lang="en-US" sz="1250" dirty="0"/>
          </a:p>
        </p:txBody>
      </p:sp>
      <p:sp>
        <p:nvSpPr>
          <p:cNvPr id="19" name="Shape 15"/>
          <p:cNvSpPr/>
          <p:nvPr/>
        </p:nvSpPr>
        <p:spPr>
          <a:xfrm>
            <a:off x="7040880" y="3017520"/>
            <a:ext cx="4206240" cy="1508760"/>
          </a:xfrm>
          <a:prstGeom prst="roundRect">
            <a:avLst>
              <a:gd name="adj" fmla="val 4848"/>
            </a:avLst>
          </a:prstGeom>
          <a:solidFill>
            <a:srgbClr val="21295C"/>
          </a:solidFill>
          <a:ln w="12700">
            <a:solidFill>
              <a:srgbClr val="DCE6EB"/>
            </a:solidFill>
            <a:prstDash val="solid"/>
          </a:ln>
          <a:effectLst>
            <a:outerShdw sx="100000" sy="100000" kx="0" ky="0" algn="bl" rotWithShape="0" blurRad="76200" dist="25400" dir="5400000">
              <a:srgbClr val="0B1B2B">
                <a:alpha val="18000"/>
              </a:srgbClr>
            </a:outerShdw>
          </a:effectLst>
        </p:spPr>
      </p:sp>
      <p:pic>
        <p:nvPicPr>
          <p:cNvPr id="20" name="Image 2" descr="C:\Users\USER\AppData\Local\Temp\claude\C--Users-biche-cloud-heroes-africa-platform\c742e88a-fbba-45b1-8382-f8dad19948a7\scratchpad\pptx-build\icons\database_FFFFFF.png">    </p:cNvPr>
          <p:cNvPicPr>
            <a:picLocks noChangeAspect="1"/>
          </p:cNvPicPr>
          <p:nvPr/>
        </p:nvPicPr>
        <p:blipFill>
          <a:blip r:embed="rId3"/>
          <a:stretch>
            <a:fillRect/>
          </a:stretch>
        </p:blipFill>
        <p:spPr>
          <a:xfrm>
            <a:off x="7360920" y="3291840"/>
            <a:ext cx="621792" cy="621792"/>
          </a:xfrm>
          <a:prstGeom prst="rect">
            <a:avLst/>
          </a:prstGeom>
        </p:spPr>
      </p:pic>
      <p:sp>
        <p:nvSpPr>
          <p:cNvPr id="21" name="Text 16"/>
          <p:cNvSpPr txBox="1"/>
          <p:nvPr/>
        </p:nvSpPr>
        <p:spPr>
          <a:xfrm>
            <a:off x="8183880" y="3154680"/>
            <a:ext cx="2926080" cy="132588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One shared Postgres database</a:t>
            </a:r>
            <a:endParaRPr lang="en-US" sz="1350" dirty="0"/>
          </a:p>
          <a:p>
            <a:pPr indent="0" marL="0">
              <a:buNone/>
            </a:pPr>
            <a:r>
              <a:rPr lang="en-US" sz="1250" dirty="0">
                <a:solidFill>
                  <a:srgbClr val="C9DCE6"/>
                </a:solidFill>
                <a:latin typeface="Calibri" pitchFamily="34" charset="0"/>
                <a:ea typeface="Calibri" pitchFamily="34" charset="-122"/>
                <a:cs typeface="Calibri" pitchFamily="34" charset="-120"/>
              </a:rPr>
              <a:t>accessed through Prisma (an ORM — code talks to the database through typed functions, not hand-written SQL)</a:t>
            </a:r>
            <a:endParaRPr lang="en-US" sz="1350" dirty="0"/>
          </a:p>
        </p:txBody>
      </p:sp>
      <p:sp>
        <p:nvSpPr>
          <p:cNvPr id="22" name="Text 17"/>
          <p:cNvSpPr txBox="1"/>
          <p:nvPr/>
        </p:nvSpPr>
        <p:spPr>
          <a:xfrm>
            <a:off x="6309360" y="4892040"/>
            <a:ext cx="5303520" cy="822960"/>
          </a:xfrm>
          <a:prstGeom prst="rect">
            <a:avLst/>
          </a:prstGeom>
          <a:noFill/>
          <a:ln/>
        </p:spPr>
        <p:txBody>
          <a:bodyPr wrap="square" lIns="0" tIns="0" rIns="0" bIns="0" rtlCol="0" anchor="ctr"/>
          <a:lstStyle/>
          <a:p>
            <a:pPr indent="0" marL="0">
              <a:buNone/>
            </a:pPr>
            <a:r>
              <a:rPr lang="en-US" sz="1250" i="1" dirty="0">
                <a:solidFill>
                  <a:srgbClr val="1C7293"/>
                </a:solidFill>
                <a:latin typeface="Calibri" pitchFamily="34" charset="0"/>
                <a:ea typeface="Calibri" pitchFamily="34" charset="-122"/>
                <a:cs typeface="Calibri" pitchFamily="34" charset="-120"/>
              </a:rPr>
              <a:t>One shared filing system — both apps read and write the same records, under clear rules about who owns what.</a:t>
            </a:r>
            <a:endParaRPr lang="en-US" sz="1250" dirty="0"/>
          </a:p>
        </p:txBody>
      </p:sp>
      <p:sp>
        <p:nvSpPr>
          <p:cNvPr id="23" name="Text 18"/>
          <p:cNvSpPr txBox="1"/>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How the Platform's Database Is Designed</a:t>
            </a:r>
            <a:endParaRPr lang="en-US" sz="1000" dirty="0"/>
          </a:p>
        </p:txBody>
      </p:sp>
      <p:sp>
        <p:nvSpPr>
          <p:cNvPr id="24" name="Text 19"/>
          <p:cNvSpPr txBox="1"/>
          <p:nvPr/>
        </p:nvSpPr>
        <p:spPr>
          <a:xfrm>
            <a:off x="11338560" y="6528816"/>
            <a:ext cx="45720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05156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STRUCTURE</a:t>
            </a:r>
            <a:endParaRPr lang="en-US" sz="1300" dirty="0"/>
          </a:p>
        </p:txBody>
      </p:sp>
      <p:sp>
        <p:nvSpPr>
          <p:cNvPr id="3" name="Text 1"/>
          <p:cNvSpPr txBox="1"/>
          <p:nvPr/>
        </p:nvSpPr>
        <p:spPr>
          <a:xfrm>
            <a:off x="457200" y="621792"/>
            <a:ext cx="1124712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Three Schema Files, One Database</a:t>
            </a:r>
            <a:endParaRPr lang="en-US" sz="3000" dirty="0"/>
          </a:p>
        </p:txBody>
      </p:sp>
      <p:sp>
        <p:nvSpPr>
          <p:cNvPr id="4" name="Shape 2"/>
          <p:cNvSpPr/>
          <p:nvPr/>
        </p:nvSpPr>
        <p:spPr>
          <a:xfrm>
            <a:off x="548640" y="1508760"/>
            <a:ext cx="3520440" cy="3657600"/>
          </a:xfrm>
          <a:prstGeom prst="roundRect">
            <a:avLst>
              <a:gd name="adj" fmla="val 2078"/>
            </a:avLst>
          </a:prstGeom>
          <a:solidFill>
            <a:srgbClr val="FFFFFF"/>
          </a:solidFill>
          <a:ln w="12700">
            <a:solidFill>
              <a:srgbClr val="DCE6EB"/>
            </a:solidFill>
            <a:prstDash val="solid"/>
          </a:ln>
          <a:effectLst>
            <a:outerShdw sx="100000" sy="100000" kx="0" ky="0" algn="bl" rotWithShape="0" blurRad="76200" dist="25400" dir="5400000">
              <a:srgbClr val="0B1B2B">
                <a:alpha val="18000"/>
              </a:srgbClr>
            </a:outerShdw>
          </a:effectLst>
        </p:spPr>
      </p:sp>
      <p:sp>
        <p:nvSpPr>
          <p:cNvPr id="5" name="Shape 3"/>
          <p:cNvSpPr/>
          <p:nvPr/>
        </p:nvSpPr>
        <p:spPr>
          <a:xfrm>
            <a:off x="548640" y="1508760"/>
            <a:ext cx="3520440" cy="109728"/>
          </a:xfrm>
          <a:prstGeom prst="rect">
            <a:avLst/>
          </a:prstGeom>
          <a:solidFill>
            <a:srgbClr val="065A82"/>
          </a:solidFill>
          <a:ln/>
        </p:spPr>
      </p:sp>
      <p:sp>
        <p:nvSpPr>
          <p:cNvPr id="6" name="Text 4"/>
          <p:cNvSpPr txBox="1"/>
          <p:nvPr/>
        </p:nvSpPr>
        <p:spPr>
          <a:xfrm>
            <a:off x="822960" y="1828800"/>
            <a:ext cx="2971800" cy="502920"/>
          </a:xfrm>
          <a:prstGeom prst="rect">
            <a:avLst/>
          </a:prstGeom>
          <a:noFill/>
          <a:ln/>
        </p:spPr>
        <p:txBody>
          <a:bodyPr wrap="square" lIns="0" tIns="0" rIns="0" bIns="0" rtlCol="0" anchor="ctr"/>
          <a:lstStyle/>
          <a:p>
            <a:pPr indent="0" marL="0">
              <a:buNone/>
            </a:pPr>
            <a:r>
              <a:rPr lang="en-US" sz="1900" b="1" dirty="0">
                <a:solidFill>
                  <a:srgbClr val="21295C"/>
                </a:solidFill>
                <a:latin typeface="Cambria" pitchFamily="34" charset="0"/>
                <a:ea typeface="Cambria" pitchFamily="34" charset="-122"/>
                <a:cs typeface="Cambria" pitchFamily="34" charset="-120"/>
              </a:rPr>
              <a:t>lp-core</a:t>
            </a:r>
            <a:endParaRPr lang="en-US" sz="1900" dirty="0"/>
          </a:p>
        </p:txBody>
      </p:sp>
      <p:sp>
        <p:nvSpPr>
          <p:cNvPr id="7" name="Text 5"/>
          <p:cNvSpPr txBox="1"/>
          <p:nvPr/>
        </p:nvSpPr>
        <p:spPr>
          <a:xfrm>
            <a:off x="822960" y="2377440"/>
            <a:ext cx="2971800" cy="32004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~20 tables</a:t>
            </a:r>
            <a:endParaRPr lang="en-US" sz="1300" dirty="0"/>
          </a:p>
        </p:txBody>
      </p:sp>
      <p:sp>
        <p:nvSpPr>
          <p:cNvPr id="8" name="Text 6"/>
          <p:cNvSpPr txBox="1"/>
          <p:nvPr/>
        </p:nvSpPr>
        <p:spPr>
          <a:xfrm>
            <a:off x="822960" y="2788920"/>
            <a:ext cx="2971800" cy="1097280"/>
          </a:xfrm>
          <a:prstGeom prst="rect">
            <a:avLst/>
          </a:prstGeom>
          <a:noFill/>
          <a:ln/>
        </p:spPr>
        <p:txBody>
          <a:bodyPr wrap="square" lIns="0" tIns="0" rIns="0" bIns="0" rtlCol="0" anchor="ctr"/>
          <a:lstStyle/>
          <a:p>
            <a:pPr indent="0" marL="0">
              <a:lnSpc>
                <a:spcPct val="120000"/>
              </a:lnSpc>
              <a:buNone/>
            </a:pPr>
            <a:r>
              <a:rPr lang="en-US" sz="1350" dirty="0">
                <a:solidFill>
                  <a:srgbClr val="1B2430"/>
                </a:solidFill>
                <a:latin typeface="Calibri" pitchFamily="34" charset="0"/>
                <a:ea typeface="Calibri" pitchFamily="34" charset="-122"/>
                <a:cs typeface="Calibri" pitchFamily="34" charset="-120"/>
              </a:rPr>
              <a:t>Learning Platform's own domain: course content, progress, tokens, assessments.</a:t>
            </a:r>
            <a:endParaRPr lang="en-US" sz="1350" dirty="0"/>
          </a:p>
        </p:txBody>
      </p:sp>
      <p:sp>
        <p:nvSpPr>
          <p:cNvPr id="9" name="Shape 7"/>
          <p:cNvSpPr/>
          <p:nvPr/>
        </p:nvSpPr>
        <p:spPr>
          <a:xfrm>
            <a:off x="822960" y="3977640"/>
            <a:ext cx="2971800" cy="9144"/>
          </a:xfrm>
          <a:prstGeom prst="line">
            <a:avLst/>
          </a:prstGeom>
          <a:noFill/>
          <a:ln w="12700">
            <a:solidFill>
              <a:srgbClr val="E3EAEE"/>
            </a:solidFill>
            <a:prstDash val="solid"/>
          </a:ln>
        </p:spPr>
      </p:sp>
      <p:sp>
        <p:nvSpPr>
          <p:cNvPr id="10" name="Text 8"/>
          <p:cNvSpPr txBox="1"/>
          <p:nvPr/>
        </p:nvSpPr>
        <p:spPr>
          <a:xfrm>
            <a:off x="822960" y="4114800"/>
            <a:ext cx="2971800" cy="914400"/>
          </a:xfrm>
          <a:prstGeom prst="rect">
            <a:avLst/>
          </a:prstGeom>
          <a:noFill/>
          <a:ln/>
        </p:spPr>
        <p:txBody>
          <a:bodyPr wrap="square" lIns="0" tIns="0" rIns="0" bIns="0" rtlCol="0" anchor="ctr"/>
          <a:lstStyle/>
          <a:p>
            <a:pPr indent="0" marL="0">
              <a:lnSpc>
                <a:spcPct val="120000"/>
              </a:lnSpc>
              <a:buNone/>
            </a:pPr>
            <a:r>
              <a:rPr lang="en-US" sz="1200" i="1" dirty="0">
                <a:solidFill>
                  <a:srgbClr val="5B6B79"/>
                </a:solidFill>
                <a:latin typeface="Calibri" pitchFamily="34" charset="0"/>
                <a:ea typeface="Calibri" pitchFamily="34" charset="-122"/>
                <a:cs typeface="Calibri" pitchFamily="34" charset="-120"/>
              </a:rPr>
              <a:t>Learning Platform is the only app that applies structural changes (“migrations”) to the database.</a:t>
            </a:r>
            <a:endParaRPr lang="en-US" sz="1200" dirty="0"/>
          </a:p>
        </p:txBody>
      </p:sp>
      <p:sp>
        <p:nvSpPr>
          <p:cNvPr id="11" name="Shape 9"/>
          <p:cNvSpPr/>
          <p:nvPr/>
        </p:nvSpPr>
        <p:spPr>
          <a:xfrm>
            <a:off x="4389120" y="1508760"/>
            <a:ext cx="3520440" cy="3657600"/>
          </a:xfrm>
          <a:prstGeom prst="roundRect">
            <a:avLst>
              <a:gd name="adj" fmla="val 2078"/>
            </a:avLst>
          </a:prstGeom>
          <a:solidFill>
            <a:srgbClr val="FFFFFF"/>
          </a:solidFill>
          <a:ln w="12700">
            <a:solidFill>
              <a:srgbClr val="DCE6EB"/>
            </a:solidFill>
            <a:prstDash val="solid"/>
          </a:ln>
          <a:effectLst>
            <a:outerShdw sx="100000" sy="100000" kx="0" ky="0" algn="bl" rotWithShape="0" blurRad="76200" dist="25400" dir="5400000">
              <a:srgbClr val="0B1B2B">
                <a:alpha val="18000"/>
              </a:srgbClr>
            </a:outerShdw>
          </a:effectLst>
        </p:spPr>
      </p:sp>
      <p:sp>
        <p:nvSpPr>
          <p:cNvPr id="12" name="Shape 10"/>
          <p:cNvSpPr/>
          <p:nvPr/>
        </p:nvSpPr>
        <p:spPr>
          <a:xfrm>
            <a:off x="4389120" y="1508760"/>
            <a:ext cx="3520440" cy="109728"/>
          </a:xfrm>
          <a:prstGeom prst="rect">
            <a:avLst/>
          </a:prstGeom>
          <a:solidFill>
            <a:srgbClr val="1C7293"/>
          </a:solidFill>
          <a:ln/>
        </p:spPr>
      </p:sp>
      <p:sp>
        <p:nvSpPr>
          <p:cNvPr id="13" name="Text 11"/>
          <p:cNvSpPr txBox="1"/>
          <p:nvPr/>
        </p:nvSpPr>
        <p:spPr>
          <a:xfrm>
            <a:off x="4663440" y="1828800"/>
            <a:ext cx="2971800" cy="502920"/>
          </a:xfrm>
          <a:prstGeom prst="rect">
            <a:avLst/>
          </a:prstGeom>
          <a:noFill/>
          <a:ln/>
        </p:spPr>
        <p:txBody>
          <a:bodyPr wrap="square" lIns="0" tIns="0" rIns="0" bIns="0" rtlCol="0" anchor="ctr"/>
          <a:lstStyle/>
          <a:p>
            <a:pPr indent="0" marL="0">
              <a:buNone/>
            </a:pPr>
            <a:r>
              <a:rPr lang="en-US" sz="1900" b="1" dirty="0">
                <a:solidFill>
                  <a:srgbClr val="21295C"/>
                </a:solidFill>
                <a:latin typeface="Cambria" pitchFamily="34" charset="0"/>
                <a:ea typeface="Cambria" pitchFamily="34" charset="-122"/>
                <a:cs typeface="Cambria" pitchFamily="34" charset="-120"/>
              </a:rPr>
              <a:t>platform-core (shared)</a:t>
            </a:r>
            <a:endParaRPr lang="en-US" sz="1900" dirty="0"/>
          </a:p>
        </p:txBody>
      </p:sp>
      <p:sp>
        <p:nvSpPr>
          <p:cNvPr id="14" name="Text 12"/>
          <p:cNvSpPr txBox="1"/>
          <p:nvPr/>
        </p:nvSpPr>
        <p:spPr>
          <a:xfrm>
            <a:off x="4663440" y="2377440"/>
            <a:ext cx="2971800" cy="32004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4 tables</a:t>
            </a:r>
            <a:endParaRPr lang="en-US" sz="1300" dirty="0"/>
          </a:p>
        </p:txBody>
      </p:sp>
      <p:sp>
        <p:nvSpPr>
          <p:cNvPr id="15" name="Text 13"/>
          <p:cNvSpPr txBox="1"/>
          <p:nvPr/>
        </p:nvSpPr>
        <p:spPr>
          <a:xfrm>
            <a:off x="4663440" y="2788920"/>
            <a:ext cx="2971800" cy="1097280"/>
          </a:xfrm>
          <a:prstGeom prst="rect">
            <a:avLst/>
          </a:prstGeom>
          <a:noFill/>
          <a:ln/>
        </p:spPr>
        <p:txBody>
          <a:bodyPr wrap="square" lIns="0" tIns="0" rIns="0" bIns="0" rtlCol="0" anchor="ctr"/>
          <a:lstStyle/>
          <a:p>
            <a:pPr indent="0" marL="0">
              <a:lnSpc>
                <a:spcPct val="120000"/>
              </a:lnSpc>
              <a:buNone/>
            </a:pPr>
            <a:r>
              <a:rPr lang="en-US" sz="1350" dirty="0">
                <a:solidFill>
                  <a:srgbClr val="1B2430"/>
                </a:solidFill>
                <a:latin typeface="Calibri" pitchFamily="34" charset="0"/>
                <a:ea typeface="Calibri" pitchFamily="34" charset="-122"/>
                <a:cs typeface="Calibri" pitchFamily="34" charset="-120"/>
              </a:rPr>
              <a:t>Student, ApprovedEmail, SupportTicket, AuditEntry — used by both apps.</a:t>
            </a:r>
            <a:endParaRPr lang="en-US" sz="1350" dirty="0"/>
          </a:p>
        </p:txBody>
      </p:sp>
      <p:sp>
        <p:nvSpPr>
          <p:cNvPr id="16" name="Shape 14"/>
          <p:cNvSpPr/>
          <p:nvPr/>
        </p:nvSpPr>
        <p:spPr>
          <a:xfrm>
            <a:off x="4663440" y="3977640"/>
            <a:ext cx="2971800" cy="9144"/>
          </a:xfrm>
          <a:prstGeom prst="line">
            <a:avLst/>
          </a:prstGeom>
          <a:noFill/>
          <a:ln w="12700">
            <a:solidFill>
              <a:srgbClr val="E3EAEE"/>
            </a:solidFill>
            <a:prstDash val="solid"/>
          </a:ln>
        </p:spPr>
      </p:sp>
      <p:sp>
        <p:nvSpPr>
          <p:cNvPr id="17" name="Text 15"/>
          <p:cNvSpPr txBox="1"/>
          <p:nvPr/>
        </p:nvSpPr>
        <p:spPr>
          <a:xfrm>
            <a:off x="4663440" y="4114800"/>
            <a:ext cx="2971800" cy="914400"/>
          </a:xfrm>
          <a:prstGeom prst="rect">
            <a:avLst/>
          </a:prstGeom>
          <a:noFill/>
          <a:ln/>
        </p:spPr>
        <p:txBody>
          <a:bodyPr wrap="square" lIns="0" tIns="0" rIns="0" bIns="0" rtlCol="0" anchor="ctr"/>
          <a:lstStyle/>
          <a:p>
            <a:pPr indent="0" marL="0">
              <a:lnSpc>
                <a:spcPct val="120000"/>
              </a:lnSpc>
              <a:buNone/>
            </a:pPr>
            <a:r>
              <a:rPr lang="en-US" sz="1200" i="1" dirty="0">
                <a:solidFill>
                  <a:srgbClr val="5B6B79"/>
                </a:solidFill>
                <a:latin typeface="Calibri" pitchFamily="34" charset="0"/>
                <a:ea typeface="Calibri" pitchFamily="34" charset="-122"/>
                <a:cs typeface="Calibri" pitchFamily="34" charset="-120"/>
              </a:rPr>
              <a:t>The one place both apps agree on what these tables look like.</a:t>
            </a:r>
            <a:endParaRPr lang="en-US" sz="1200" dirty="0"/>
          </a:p>
        </p:txBody>
      </p:sp>
      <p:sp>
        <p:nvSpPr>
          <p:cNvPr id="18" name="Shape 16"/>
          <p:cNvSpPr/>
          <p:nvPr/>
        </p:nvSpPr>
        <p:spPr>
          <a:xfrm>
            <a:off x="8229600" y="1508760"/>
            <a:ext cx="3520440" cy="3657600"/>
          </a:xfrm>
          <a:prstGeom prst="roundRect">
            <a:avLst>
              <a:gd name="adj" fmla="val 2078"/>
            </a:avLst>
          </a:prstGeom>
          <a:solidFill>
            <a:srgbClr val="FFFFFF"/>
          </a:solidFill>
          <a:ln w="12700">
            <a:solidFill>
              <a:srgbClr val="DCE6EB"/>
            </a:solidFill>
            <a:prstDash val="solid"/>
          </a:ln>
          <a:effectLst>
            <a:outerShdw sx="100000" sy="100000" kx="0" ky="0" algn="bl" rotWithShape="0" blurRad="76200" dist="25400" dir="5400000">
              <a:srgbClr val="0B1B2B">
                <a:alpha val="18000"/>
              </a:srgbClr>
            </a:outerShdw>
          </a:effectLst>
        </p:spPr>
      </p:sp>
      <p:sp>
        <p:nvSpPr>
          <p:cNvPr id="19" name="Shape 17"/>
          <p:cNvSpPr/>
          <p:nvPr/>
        </p:nvSpPr>
        <p:spPr>
          <a:xfrm>
            <a:off x="8229600" y="1508760"/>
            <a:ext cx="3520440" cy="109728"/>
          </a:xfrm>
          <a:prstGeom prst="rect">
            <a:avLst/>
          </a:prstGeom>
          <a:solidFill>
            <a:srgbClr val="5FB4A2"/>
          </a:solidFill>
          <a:ln/>
        </p:spPr>
      </p:sp>
      <p:sp>
        <p:nvSpPr>
          <p:cNvPr id="20" name="Text 18"/>
          <p:cNvSpPr txBox="1"/>
          <p:nvPr/>
        </p:nvSpPr>
        <p:spPr>
          <a:xfrm>
            <a:off x="8503920" y="1828800"/>
            <a:ext cx="2971800" cy="502920"/>
          </a:xfrm>
          <a:prstGeom prst="rect">
            <a:avLst/>
          </a:prstGeom>
          <a:noFill/>
          <a:ln/>
        </p:spPr>
        <p:txBody>
          <a:bodyPr wrap="square" lIns="0" tIns="0" rIns="0" bIns="0" rtlCol="0" anchor="ctr"/>
          <a:lstStyle/>
          <a:p>
            <a:pPr indent="0" marL="0">
              <a:buNone/>
            </a:pPr>
            <a:r>
              <a:rPr lang="en-US" sz="1900" b="1" dirty="0">
                <a:solidFill>
                  <a:srgbClr val="21295C"/>
                </a:solidFill>
                <a:latin typeface="Cambria" pitchFamily="34" charset="0"/>
                <a:ea typeface="Cambria" pitchFamily="34" charset="-122"/>
                <a:cs typeface="Cambria" pitchFamily="34" charset="-120"/>
              </a:rPr>
              <a:t>student-hub-local</a:t>
            </a:r>
            <a:endParaRPr lang="en-US" sz="1900" dirty="0"/>
          </a:p>
        </p:txBody>
      </p:sp>
      <p:sp>
        <p:nvSpPr>
          <p:cNvPr id="21" name="Text 19"/>
          <p:cNvSpPr txBox="1"/>
          <p:nvPr/>
        </p:nvSpPr>
        <p:spPr>
          <a:xfrm>
            <a:off x="8503920" y="2377440"/>
            <a:ext cx="2971800" cy="320040"/>
          </a:xfrm>
          <a:prstGeom prst="rect">
            <a:avLst/>
          </a:prstGeom>
          <a:noFill/>
          <a:ln/>
        </p:spPr>
        <p:txBody>
          <a:bodyPr wrap="square" lIns="0" tIns="0" rIns="0" bIns="0" rtlCol="0" anchor="ctr"/>
          <a:lstStyle/>
          <a:p>
            <a:pPr indent="0" marL="0">
              <a:buNone/>
            </a:pPr>
            <a:r>
              <a:rPr lang="en-US" sz="1300" b="1" dirty="0">
                <a:solidFill>
                  <a:srgbClr val="5FB4A2"/>
                </a:solidFill>
                <a:latin typeface="Calibri" pitchFamily="34" charset="0"/>
                <a:ea typeface="Calibri" pitchFamily="34" charset="-122"/>
                <a:cs typeface="Calibri" pitchFamily="34" charset="-120"/>
              </a:rPr>
              <a:t>4 tables</a:t>
            </a:r>
            <a:endParaRPr lang="en-US" sz="1300" dirty="0"/>
          </a:p>
        </p:txBody>
      </p:sp>
      <p:sp>
        <p:nvSpPr>
          <p:cNvPr id="22" name="Text 20"/>
          <p:cNvSpPr txBox="1"/>
          <p:nvPr/>
        </p:nvSpPr>
        <p:spPr>
          <a:xfrm>
            <a:off x="8503920" y="2788920"/>
            <a:ext cx="2971800" cy="1097280"/>
          </a:xfrm>
          <a:prstGeom prst="rect">
            <a:avLst/>
          </a:prstGeom>
          <a:noFill/>
          <a:ln/>
        </p:spPr>
        <p:txBody>
          <a:bodyPr wrap="square" lIns="0" tIns="0" rIns="0" bIns="0" rtlCol="0" anchor="ctr"/>
          <a:lstStyle/>
          <a:p>
            <a:pPr indent="0" marL="0">
              <a:lnSpc>
                <a:spcPct val="120000"/>
              </a:lnSpc>
              <a:buNone/>
            </a:pPr>
            <a:r>
              <a:rPr lang="en-US" sz="1350" dirty="0">
                <a:solidFill>
                  <a:srgbClr val="1B2430"/>
                </a:solidFill>
                <a:latin typeface="Calibri" pitchFamily="34" charset="0"/>
                <a:ea typeface="Calibri" pitchFamily="34" charset="-122"/>
                <a:cs typeface="Calibri" pitchFamily="34" charset="-120"/>
              </a:rPr>
              <a:t>Todo, Event, and Student Hub's own simplified course catalog.</a:t>
            </a:r>
            <a:endParaRPr lang="en-US" sz="1350" dirty="0"/>
          </a:p>
        </p:txBody>
      </p:sp>
      <p:sp>
        <p:nvSpPr>
          <p:cNvPr id="23" name="Shape 21"/>
          <p:cNvSpPr/>
          <p:nvPr/>
        </p:nvSpPr>
        <p:spPr>
          <a:xfrm>
            <a:off x="8503920" y="3977640"/>
            <a:ext cx="2971800" cy="9144"/>
          </a:xfrm>
          <a:prstGeom prst="line">
            <a:avLst/>
          </a:prstGeom>
          <a:noFill/>
          <a:ln w="12700">
            <a:solidFill>
              <a:srgbClr val="E3EAEE"/>
            </a:solidFill>
            <a:prstDash val="solid"/>
          </a:ln>
        </p:spPr>
      </p:sp>
      <p:sp>
        <p:nvSpPr>
          <p:cNvPr id="24" name="Text 22"/>
          <p:cNvSpPr txBox="1"/>
          <p:nvPr/>
        </p:nvSpPr>
        <p:spPr>
          <a:xfrm>
            <a:off x="8503920" y="4114800"/>
            <a:ext cx="2971800" cy="914400"/>
          </a:xfrm>
          <a:prstGeom prst="rect">
            <a:avLst/>
          </a:prstGeom>
          <a:noFill/>
          <a:ln/>
        </p:spPr>
        <p:txBody>
          <a:bodyPr wrap="square" lIns="0" tIns="0" rIns="0" bIns="0" rtlCol="0" anchor="ctr"/>
          <a:lstStyle/>
          <a:p>
            <a:pPr indent="0" marL="0">
              <a:lnSpc>
                <a:spcPct val="120000"/>
              </a:lnSpc>
              <a:buNone/>
            </a:pPr>
            <a:r>
              <a:rPr lang="en-US" sz="1200" i="1" dirty="0">
                <a:solidFill>
                  <a:srgbClr val="5B6B79"/>
                </a:solidFill>
                <a:latin typeface="Calibri" pitchFamily="34" charset="0"/>
                <a:ea typeface="Calibri" pitchFamily="34" charset="-122"/>
                <a:cs typeface="Calibri" pitchFamily="34" charset="-120"/>
              </a:rPr>
              <a:t>Conceptually Student Hub's own data, still living in the shared database.</a:t>
            </a:r>
            <a:endParaRPr lang="en-US" sz="1200" dirty="0"/>
          </a:p>
        </p:txBody>
      </p:sp>
      <p:sp>
        <p:nvSpPr>
          <p:cNvPr id="25" name="Shape 23"/>
          <p:cNvSpPr/>
          <p:nvPr/>
        </p:nvSpPr>
        <p:spPr>
          <a:xfrm>
            <a:off x="548640" y="5394960"/>
            <a:ext cx="11201400" cy="777240"/>
          </a:xfrm>
          <a:prstGeom prst="roundRect">
            <a:avLst>
              <a:gd name="adj" fmla="val 9412"/>
            </a:avLst>
          </a:prstGeom>
          <a:solidFill>
            <a:srgbClr val="F1F5F8"/>
          </a:solidFill>
          <a:ln w="12700">
            <a:solidFill>
              <a:srgbClr val="DCE6EB"/>
            </a:solidFill>
            <a:prstDash val="solid"/>
          </a:ln>
        </p:spPr>
      </p:sp>
      <p:pic>
        <p:nvPicPr>
          <p:cNvPr id="26" name="Image 0" descr="C:\Users\USER\AppData\Local\Temp\claude\C--Users-biche-cloud-heroes-africa-platform\c742e88a-fbba-45b1-8382-f8dad19948a7\scratchpad\pptx-build\icons\refresh_065A82.png">    </p:cNvPr>
          <p:cNvPicPr>
            <a:picLocks noChangeAspect="1"/>
          </p:cNvPicPr>
          <p:nvPr/>
        </p:nvPicPr>
        <p:blipFill>
          <a:blip r:embed="rId1"/>
          <a:stretch>
            <a:fillRect/>
          </a:stretch>
        </p:blipFill>
        <p:spPr>
          <a:xfrm>
            <a:off x="777240" y="5605272"/>
            <a:ext cx="384048" cy="384048"/>
          </a:xfrm>
          <a:prstGeom prst="rect">
            <a:avLst/>
          </a:prstGeom>
        </p:spPr>
      </p:pic>
      <p:sp>
        <p:nvSpPr>
          <p:cNvPr id="27" name="Text 24"/>
          <p:cNvSpPr txBox="1"/>
          <p:nvPr/>
        </p:nvSpPr>
        <p:spPr>
          <a:xfrm>
            <a:off x="1325880" y="5394960"/>
            <a:ext cx="9784080" cy="777240"/>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An automated sync script keeps both apps' copies of the shared/local files identical — one source of truth, not two hand-maintained copies.</a:t>
            </a:r>
            <a:endParaRPr lang="en-US" sz="1300" dirty="0"/>
          </a:p>
        </p:txBody>
      </p:sp>
      <p:sp>
        <p:nvSpPr>
          <p:cNvPr id="28" name="Text 25"/>
          <p:cNvSpPr txBox="1"/>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How the Platform's Database Is Designed</a:t>
            </a:r>
            <a:endParaRPr lang="en-US" sz="1000" dirty="0"/>
          </a:p>
        </p:txBody>
      </p:sp>
      <p:sp>
        <p:nvSpPr>
          <p:cNvPr id="29" name="Text 26"/>
          <p:cNvSpPr txBox="1"/>
          <p:nvPr/>
        </p:nvSpPr>
        <p:spPr>
          <a:xfrm>
            <a:off x="11338560" y="6528816"/>
            <a:ext cx="45720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05156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WHAT'S STORED</a:t>
            </a:r>
            <a:endParaRPr lang="en-US" sz="1300" dirty="0"/>
          </a:p>
        </p:txBody>
      </p:sp>
      <p:sp>
        <p:nvSpPr>
          <p:cNvPr id="3" name="Text 1"/>
          <p:cNvSpPr txBox="1"/>
          <p:nvPr/>
        </p:nvSpPr>
        <p:spPr>
          <a:xfrm>
            <a:off x="457200" y="621792"/>
            <a:ext cx="1124712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Six Areas of Data</a:t>
            </a:r>
            <a:endParaRPr lang="en-US" sz="3000" dirty="0"/>
          </a:p>
        </p:txBody>
      </p:sp>
      <p:sp>
        <p:nvSpPr>
          <p:cNvPr id="4" name="Shape 2"/>
          <p:cNvSpPr/>
          <p:nvPr/>
        </p:nvSpPr>
        <p:spPr>
          <a:xfrm>
            <a:off x="502920" y="1463040"/>
            <a:ext cx="3611880" cy="1965960"/>
          </a:xfrm>
          <a:prstGeom prst="roundRect">
            <a:avLst>
              <a:gd name="adj" fmla="val 3721"/>
            </a:avLst>
          </a:prstGeom>
          <a:solidFill>
            <a:srgbClr val="F1F5F8"/>
          </a:solidFill>
          <a:ln w="12700">
            <a:solidFill>
              <a:srgbClr val="DCE6EB"/>
            </a:solidFill>
            <a:prstDash val="solid"/>
          </a:ln>
          <a:effectLst>
            <a:outerShdw sx="100000" sy="100000" kx="0" ky="0" algn="bl" rotWithShape="0" blurRad="76200" dist="25400" dir="5400000">
              <a:srgbClr val="0B1B2B">
                <a:alpha val="18000"/>
              </a:srgbClr>
            </a:outerShdw>
          </a:effectLst>
        </p:spPr>
      </p:sp>
      <p:sp>
        <p:nvSpPr>
          <p:cNvPr id="5" name="Shape 3"/>
          <p:cNvSpPr/>
          <p:nvPr/>
        </p:nvSpPr>
        <p:spPr>
          <a:xfrm>
            <a:off x="758952" y="1719072"/>
            <a:ext cx="566928" cy="566928"/>
          </a:xfrm>
          <a:prstGeom prst="ellipse">
            <a:avLst/>
          </a:prstGeom>
          <a:solidFill>
            <a:srgbClr val="1C7293"/>
          </a:solidFill>
          <a:ln/>
        </p:spPr>
      </p:sp>
      <p:pic>
        <p:nvPicPr>
          <p:cNvPr id="6" name="Image 0" descr="C:\Users\USER\AppData\Local\Temp\claude\C--Users-biche-cloud-heroes-africa-platform\c742e88a-fbba-45b1-8382-f8dad19948a7\scratchpad\pptx-build\icons\users_FFFFFF.png">    </p:cNvPr>
          <p:cNvPicPr>
            <a:picLocks noChangeAspect="1"/>
          </p:cNvPicPr>
          <p:nvPr/>
        </p:nvPicPr>
        <p:blipFill>
          <a:blip r:embed="rId1"/>
          <a:stretch>
            <a:fillRect/>
          </a:stretch>
        </p:blipFill>
        <p:spPr>
          <a:xfrm>
            <a:off x="905256" y="1865376"/>
            <a:ext cx="274320" cy="274320"/>
          </a:xfrm>
          <a:prstGeom prst="rect">
            <a:avLst/>
          </a:prstGeom>
        </p:spPr>
      </p:pic>
      <p:sp>
        <p:nvSpPr>
          <p:cNvPr id="7" name="Text 4"/>
          <p:cNvSpPr txBox="1"/>
          <p:nvPr/>
        </p:nvSpPr>
        <p:spPr>
          <a:xfrm>
            <a:off x="1463040" y="1700784"/>
            <a:ext cx="2423160" cy="548640"/>
          </a:xfrm>
          <a:prstGeom prst="rect">
            <a:avLst/>
          </a:prstGeom>
          <a:noFill/>
          <a:ln/>
        </p:spPr>
        <p:txBody>
          <a:bodyPr wrap="square" lIns="0" tIns="0" rIns="0" bIns="0" rtlCol="0" anchor="ctr"/>
          <a:lstStyle/>
          <a:p>
            <a:pPr indent="0" marL="0">
              <a:buNone/>
            </a:pPr>
            <a:r>
              <a:rPr lang="en-US" sz="1650" b="1" dirty="0">
                <a:solidFill>
                  <a:srgbClr val="21295C"/>
                </a:solidFill>
                <a:latin typeface="Cambria" pitchFamily="34" charset="0"/>
                <a:ea typeface="Cambria" pitchFamily="34" charset="-122"/>
                <a:cs typeface="Cambria" pitchFamily="34" charset="-120"/>
              </a:rPr>
              <a:t>Identity</a:t>
            </a:r>
            <a:endParaRPr lang="en-US" sz="1650" dirty="0"/>
          </a:p>
        </p:txBody>
      </p:sp>
      <p:sp>
        <p:nvSpPr>
          <p:cNvPr id="8" name="Text 5"/>
          <p:cNvSpPr txBox="1"/>
          <p:nvPr/>
        </p:nvSpPr>
        <p:spPr>
          <a:xfrm>
            <a:off x="758952" y="2377440"/>
            <a:ext cx="3099816" cy="868680"/>
          </a:xfrm>
          <a:prstGeom prst="rect">
            <a:avLst/>
          </a:prstGeom>
          <a:noFill/>
          <a:ln/>
        </p:spPr>
        <p:txBody>
          <a:bodyPr wrap="square" lIns="0" tIns="0" rIns="0" bIns="0" rtlCol="0" anchor="ctr"/>
          <a:lstStyle/>
          <a:p>
            <a:pPr indent="0" marL="0">
              <a:lnSpc>
                <a:spcPct val="118000"/>
              </a:lnSpc>
              <a:buNone/>
            </a:pPr>
            <a:r>
              <a:rPr lang="en-US" sz="1250" dirty="0">
                <a:solidFill>
                  <a:srgbClr val="1B2430"/>
                </a:solidFill>
                <a:latin typeface="Calibri" pitchFamily="34" charset="0"/>
                <a:ea typeface="Calibri" pitchFamily="34" charset="-122"/>
                <a:cs typeface="Calibri" pitchFamily="34" charset="-120"/>
              </a:rPr>
              <a:t>Student, ApprovedEmail — who's allowed in, and the one shared student record.</a:t>
            </a:r>
            <a:endParaRPr lang="en-US" sz="1250" dirty="0"/>
          </a:p>
        </p:txBody>
      </p:sp>
      <p:sp>
        <p:nvSpPr>
          <p:cNvPr id="9" name="Shape 6"/>
          <p:cNvSpPr/>
          <p:nvPr/>
        </p:nvSpPr>
        <p:spPr>
          <a:xfrm>
            <a:off x="4370832" y="1463040"/>
            <a:ext cx="3611880" cy="1965960"/>
          </a:xfrm>
          <a:prstGeom prst="roundRect">
            <a:avLst>
              <a:gd name="adj" fmla="val 3721"/>
            </a:avLst>
          </a:prstGeom>
          <a:solidFill>
            <a:srgbClr val="F1F5F8"/>
          </a:solidFill>
          <a:ln w="12700">
            <a:solidFill>
              <a:srgbClr val="DCE6EB"/>
            </a:solidFill>
            <a:prstDash val="solid"/>
          </a:ln>
          <a:effectLst>
            <a:outerShdw sx="100000" sy="100000" kx="0" ky="0" algn="bl" rotWithShape="0" blurRad="76200" dist="25400" dir="5400000">
              <a:srgbClr val="0B1B2B">
                <a:alpha val="18000"/>
              </a:srgbClr>
            </a:outerShdw>
          </a:effectLst>
        </p:spPr>
      </p:sp>
      <p:sp>
        <p:nvSpPr>
          <p:cNvPr id="10" name="Shape 7"/>
          <p:cNvSpPr/>
          <p:nvPr/>
        </p:nvSpPr>
        <p:spPr>
          <a:xfrm>
            <a:off x="4626864" y="1719072"/>
            <a:ext cx="566928" cy="566928"/>
          </a:xfrm>
          <a:prstGeom prst="ellipse">
            <a:avLst/>
          </a:prstGeom>
          <a:solidFill>
            <a:srgbClr val="1C7293"/>
          </a:solidFill>
          <a:ln/>
        </p:spPr>
      </p:sp>
      <p:pic>
        <p:nvPicPr>
          <p:cNvPr id="11" name="Image 1" descr="C:\Users\USER\AppData\Local\Temp\claude\C--Users-biche-cloud-heroes-africa-platform\c742e88a-fbba-45b1-8382-f8dad19948a7\scratchpad\pptx-build\icons\book_FFFFFF.png">    </p:cNvPr>
          <p:cNvPicPr>
            <a:picLocks noChangeAspect="1"/>
          </p:cNvPicPr>
          <p:nvPr/>
        </p:nvPicPr>
        <p:blipFill>
          <a:blip r:embed="rId2"/>
          <a:stretch>
            <a:fillRect/>
          </a:stretch>
        </p:blipFill>
        <p:spPr>
          <a:xfrm>
            <a:off x="4773168" y="1865376"/>
            <a:ext cx="274320" cy="274320"/>
          </a:xfrm>
          <a:prstGeom prst="rect">
            <a:avLst/>
          </a:prstGeom>
        </p:spPr>
      </p:pic>
      <p:sp>
        <p:nvSpPr>
          <p:cNvPr id="12" name="Text 8"/>
          <p:cNvSpPr txBox="1"/>
          <p:nvPr/>
        </p:nvSpPr>
        <p:spPr>
          <a:xfrm>
            <a:off x="5330952" y="1700784"/>
            <a:ext cx="2423160" cy="548640"/>
          </a:xfrm>
          <a:prstGeom prst="rect">
            <a:avLst/>
          </a:prstGeom>
          <a:noFill/>
          <a:ln/>
        </p:spPr>
        <p:txBody>
          <a:bodyPr wrap="square" lIns="0" tIns="0" rIns="0" bIns="0" rtlCol="0" anchor="ctr"/>
          <a:lstStyle/>
          <a:p>
            <a:pPr indent="0" marL="0">
              <a:buNone/>
            </a:pPr>
            <a:r>
              <a:rPr lang="en-US" sz="1650" b="1" dirty="0">
                <a:solidFill>
                  <a:srgbClr val="21295C"/>
                </a:solidFill>
                <a:latin typeface="Cambria" pitchFamily="34" charset="0"/>
                <a:ea typeface="Cambria" pitchFamily="34" charset="-122"/>
                <a:cs typeface="Cambria" pitchFamily="34" charset="-120"/>
              </a:rPr>
              <a:t>Course Content</a:t>
            </a:r>
            <a:endParaRPr lang="en-US" sz="1650" dirty="0"/>
          </a:p>
        </p:txBody>
      </p:sp>
      <p:sp>
        <p:nvSpPr>
          <p:cNvPr id="13" name="Text 9"/>
          <p:cNvSpPr txBox="1"/>
          <p:nvPr/>
        </p:nvSpPr>
        <p:spPr>
          <a:xfrm>
            <a:off x="4626864" y="2377440"/>
            <a:ext cx="3099816" cy="868680"/>
          </a:xfrm>
          <a:prstGeom prst="rect">
            <a:avLst/>
          </a:prstGeom>
          <a:noFill/>
          <a:ln/>
        </p:spPr>
        <p:txBody>
          <a:bodyPr wrap="square" lIns="0" tIns="0" rIns="0" bIns="0" rtlCol="0" anchor="ctr"/>
          <a:lstStyle/>
          <a:p>
            <a:pPr indent="0" marL="0">
              <a:lnSpc>
                <a:spcPct val="118000"/>
              </a:lnSpc>
              <a:buNone/>
            </a:pPr>
            <a:r>
              <a:rPr lang="en-US" sz="1250" dirty="0">
                <a:solidFill>
                  <a:srgbClr val="1B2430"/>
                </a:solidFill>
                <a:latin typeface="Calibri" pitchFamily="34" charset="0"/>
                <a:ea typeface="Calibri" pitchFamily="34" charset="-122"/>
                <a:cs typeface="Calibri" pitchFamily="34" charset="-120"/>
              </a:rPr>
              <a:t>Program → Module → Unit → Content Block — a strict three-level chain.</a:t>
            </a:r>
            <a:endParaRPr lang="en-US" sz="1250" dirty="0"/>
          </a:p>
        </p:txBody>
      </p:sp>
      <p:sp>
        <p:nvSpPr>
          <p:cNvPr id="14" name="Shape 10"/>
          <p:cNvSpPr/>
          <p:nvPr/>
        </p:nvSpPr>
        <p:spPr>
          <a:xfrm>
            <a:off x="8238744" y="1463040"/>
            <a:ext cx="3611880" cy="1965960"/>
          </a:xfrm>
          <a:prstGeom prst="roundRect">
            <a:avLst>
              <a:gd name="adj" fmla="val 3721"/>
            </a:avLst>
          </a:prstGeom>
          <a:solidFill>
            <a:srgbClr val="F1F5F8"/>
          </a:solidFill>
          <a:ln w="12700">
            <a:solidFill>
              <a:srgbClr val="DCE6EB"/>
            </a:solidFill>
            <a:prstDash val="solid"/>
          </a:ln>
          <a:effectLst>
            <a:outerShdw sx="100000" sy="100000" kx="0" ky="0" algn="bl" rotWithShape="0" blurRad="76200" dist="25400" dir="5400000">
              <a:srgbClr val="0B1B2B">
                <a:alpha val="18000"/>
              </a:srgbClr>
            </a:outerShdw>
          </a:effectLst>
        </p:spPr>
      </p:sp>
      <p:sp>
        <p:nvSpPr>
          <p:cNvPr id="15" name="Shape 11"/>
          <p:cNvSpPr/>
          <p:nvPr/>
        </p:nvSpPr>
        <p:spPr>
          <a:xfrm>
            <a:off x="8494776" y="1719072"/>
            <a:ext cx="566928" cy="566928"/>
          </a:xfrm>
          <a:prstGeom prst="ellipse">
            <a:avLst/>
          </a:prstGeom>
          <a:solidFill>
            <a:srgbClr val="1C7293"/>
          </a:solidFill>
          <a:ln/>
        </p:spPr>
      </p:sp>
      <p:pic>
        <p:nvPicPr>
          <p:cNvPr id="16" name="Image 2" descr="C:\Users\USER\AppData\Local\Temp\claude\C--Users-biche-cloud-heroes-africa-platform\c742e88a-fbba-45b1-8382-f8dad19948a7\scratchpad\pptx-build\icons\award_FFFFFF.png">    </p:cNvPr>
          <p:cNvPicPr>
            <a:picLocks noChangeAspect="1"/>
          </p:cNvPicPr>
          <p:nvPr/>
        </p:nvPicPr>
        <p:blipFill>
          <a:blip r:embed="rId3"/>
          <a:stretch>
            <a:fillRect/>
          </a:stretch>
        </p:blipFill>
        <p:spPr>
          <a:xfrm>
            <a:off x="8641080" y="1865376"/>
            <a:ext cx="274320" cy="274320"/>
          </a:xfrm>
          <a:prstGeom prst="rect">
            <a:avLst/>
          </a:prstGeom>
        </p:spPr>
      </p:pic>
      <p:sp>
        <p:nvSpPr>
          <p:cNvPr id="17" name="Text 12"/>
          <p:cNvSpPr txBox="1"/>
          <p:nvPr/>
        </p:nvSpPr>
        <p:spPr>
          <a:xfrm>
            <a:off x="9198864" y="1700784"/>
            <a:ext cx="2423160" cy="548640"/>
          </a:xfrm>
          <a:prstGeom prst="rect">
            <a:avLst/>
          </a:prstGeom>
          <a:noFill/>
          <a:ln/>
        </p:spPr>
        <p:txBody>
          <a:bodyPr wrap="square" lIns="0" tIns="0" rIns="0" bIns="0" rtlCol="0" anchor="ctr"/>
          <a:lstStyle/>
          <a:p>
            <a:pPr indent="0" marL="0">
              <a:buNone/>
            </a:pPr>
            <a:r>
              <a:rPr lang="en-US" sz="1650" b="1" dirty="0">
                <a:solidFill>
                  <a:srgbClr val="21295C"/>
                </a:solidFill>
                <a:latin typeface="Cambria" pitchFamily="34" charset="0"/>
                <a:ea typeface="Cambria" pitchFamily="34" charset="-122"/>
                <a:cs typeface="Cambria" pitchFamily="34" charset="-120"/>
              </a:rPr>
              <a:t>Progress</a:t>
            </a:r>
            <a:endParaRPr lang="en-US" sz="1650" dirty="0"/>
          </a:p>
        </p:txBody>
      </p:sp>
      <p:sp>
        <p:nvSpPr>
          <p:cNvPr id="18" name="Text 13"/>
          <p:cNvSpPr txBox="1"/>
          <p:nvPr/>
        </p:nvSpPr>
        <p:spPr>
          <a:xfrm>
            <a:off x="8494776" y="2377440"/>
            <a:ext cx="3099816" cy="868680"/>
          </a:xfrm>
          <a:prstGeom prst="rect">
            <a:avLst/>
          </a:prstGeom>
          <a:noFill/>
          <a:ln/>
        </p:spPr>
        <p:txBody>
          <a:bodyPr wrap="square" lIns="0" tIns="0" rIns="0" bIns="0" rtlCol="0" anchor="ctr"/>
          <a:lstStyle/>
          <a:p>
            <a:pPr indent="0" marL="0">
              <a:lnSpc>
                <a:spcPct val="118000"/>
              </a:lnSpc>
              <a:buNone/>
            </a:pPr>
            <a:r>
              <a:rPr lang="en-US" sz="1250" dirty="0">
                <a:solidFill>
                  <a:srgbClr val="1B2430"/>
                </a:solidFill>
                <a:latin typeface="Calibri" pitchFamily="34" charset="0"/>
                <a:ea typeface="Calibri" pitchFamily="34" charset="-122"/>
                <a:cs typeface="Calibri" pitchFamily="34" charset="-120"/>
              </a:rPr>
              <a:t>Enrollment, unit status, a running token ledger, personal goals and notes.</a:t>
            </a:r>
            <a:endParaRPr lang="en-US" sz="1250" dirty="0"/>
          </a:p>
        </p:txBody>
      </p:sp>
      <p:sp>
        <p:nvSpPr>
          <p:cNvPr id="19" name="Shape 14"/>
          <p:cNvSpPr/>
          <p:nvPr/>
        </p:nvSpPr>
        <p:spPr>
          <a:xfrm>
            <a:off x="502920" y="3685032"/>
            <a:ext cx="3611880" cy="1965960"/>
          </a:xfrm>
          <a:prstGeom prst="roundRect">
            <a:avLst>
              <a:gd name="adj" fmla="val 3721"/>
            </a:avLst>
          </a:prstGeom>
          <a:solidFill>
            <a:srgbClr val="F1F5F8"/>
          </a:solidFill>
          <a:ln w="12700">
            <a:solidFill>
              <a:srgbClr val="DCE6EB"/>
            </a:solidFill>
            <a:prstDash val="solid"/>
          </a:ln>
          <a:effectLst>
            <a:outerShdw sx="100000" sy="100000" kx="0" ky="0" algn="bl" rotWithShape="0" blurRad="76200" dist="25400" dir="5400000">
              <a:srgbClr val="0B1B2B">
                <a:alpha val="18000"/>
              </a:srgbClr>
            </a:outerShdw>
          </a:effectLst>
        </p:spPr>
      </p:sp>
      <p:sp>
        <p:nvSpPr>
          <p:cNvPr id="20" name="Shape 15"/>
          <p:cNvSpPr/>
          <p:nvPr/>
        </p:nvSpPr>
        <p:spPr>
          <a:xfrm>
            <a:off x="758952" y="3941064"/>
            <a:ext cx="566928" cy="566928"/>
          </a:xfrm>
          <a:prstGeom prst="ellipse">
            <a:avLst/>
          </a:prstGeom>
          <a:solidFill>
            <a:srgbClr val="1C7293"/>
          </a:solidFill>
          <a:ln/>
        </p:spPr>
      </p:sp>
      <p:pic>
        <p:nvPicPr>
          <p:cNvPr id="21" name="Image 3" descr="C:\Users\USER\AppData\Local\Temp\claude\C--Users-biche-cloud-heroes-africa-platform\c742e88a-fbba-45b1-8382-f8dad19948a7\scratchpad\pptx-build\icons\clipboard_FFFFFF.png">    </p:cNvPr>
          <p:cNvPicPr>
            <a:picLocks noChangeAspect="1"/>
          </p:cNvPicPr>
          <p:nvPr/>
        </p:nvPicPr>
        <p:blipFill>
          <a:blip r:embed="rId4"/>
          <a:stretch>
            <a:fillRect/>
          </a:stretch>
        </p:blipFill>
        <p:spPr>
          <a:xfrm>
            <a:off x="905256" y="4087368"/>
            <a:ext cx="274320" cy="274320"/>
          </a:xfrm>
          <a:prstGeom prst="rect">
            <a:avLst/>
          </a:prstGeom>
        </p:spPr>
      </p:pic>
      <p:sp>
        <p:nvSpPr>
          <p:cNvPr id="22" name="Text 16"/>
          <p:cNvSpPr txBox="1"/>
          <p:nvPr/>
        </p:nvSpPr>
        <p:spPr>
          <a:xfrm>
            <a:off x="1463040" y="3922776"/>
            <a:ext cx="2423160" cy="548640"/>
          </a:xfrm>
          <a:prstGeom prst="rect">
            <a:avLst/>
          </a:prstGeom>
          <a:noFill/>
          <a:ln/>
        </p:spPr>
        <p:txBody>
          <a:bodyPr wrap="square" lIns="0" tIns="0" rIns="0" bIns="0" rtlCol="0" anchor="ctr"/>
          <a:lstStyle/>
          <a:p>
            <a:pPr indent="0" marL="0">
              <a:buNone/>
            </a:pPr>
            <a:r>
              <a:rPr lang="en-US" sz="1650" b="1" dirty="0">
                <a:solidFill>
                  <a:srgbClr val="21295C"/>
                </a:solidFill>
                <a:latin typeface="Cambria" pitchFamily="34" charset="0"/>
                <a:ea typeface="Cambria" pitchFamily="34" charset="-122"/>
                <a:cs typeface="Cambria" pitchFamily="34" charset="-120"/>
              </a:rPr>
              <a:t>Testing &amp; Assessment</a:t>
            </a:r>
            <a:endParaRPr lang="en-US" sz="1650" dirty="0"/>
          </a:p>
        </p:txBody>
      </p:sp>
      <p:sp>
        <p:nvSpPr>
          <p:cNvPr id="23" name="Text 17"/>
          <p:cNvSpPr txBox="1"/>
          <p:nvPr/>
        </p:nvSpPr>
        <p:spPr>
          <a:xfrm>
            <a:off x="758952" y="4599432"/>
            <a:ext cx="3099816" cy="868680"/>
          </a:xfrm>
          <a:prstGeom prst="rect">
            <a:avLst/>
          </a:prstGeom>
          <a:noFill/>
          <a:ln/>
        </p:spPr>
        <p:txBody>
          <a:bodyPr wrap="square" lIns="0" tIns="0" rIns="0" bIns="0" rtlCol="0" anchor="ctr"/>
          <a:lstStyle/>
          <a:p>
            <a:pPr indent="0" marL="0">
              <a:lnSpc>
                <a:spcPct val="118000"/>
              </a:lnSpc>
              <a:buNone/>
            </a:pPr>
            <a:r>
              <a:rPr lang="en-US" sz="1250" dirty="0">
                <a:solidFill>
                  <a:srgbClr val="1B2430"/>
                </a:solidFill>
                <a:latin typeface="Calibri" pitchFamily="34" charset="0"/>
                <a:ea typeface="Calibri" pitchFamily="34" charset="-122"/>
                <a:cs typeface="Calibri" pitchFamily="34" charset="-120"/>
              </a:rPr>
              <a:t>Knowledge Checks and full randomized Standalone Assessments — the most built-out part of the schema.</a:t>
            </a:r>
            <a:endParaRPr lang="en-US" sz="1250" dirty="0"/>
          </a:p>
        </p:txBody>
      </p:sp>
      <p:sp>
        <p:nvSpPr>
          <p:cNvPr id="24" name="Shape 18"/>
          <p:cNvSpPr/>
          <p:nvPr/>
        </p:nvSpPr>
        <p:spPr>
          <a:xfrm>
            <a:off x="4370832" y="3685032"/>
            <a:ext cx="3611880" cy="1965960"/>
          </a:xfrm>
          <a:prstGeom prst="roundRect">
            <a:avLst>
              <a:gd name="adj" fmla="val 3721"/>
            </a:avLst>
          </a:prstGeom>
          <a:solidFill>
            <a:srgbClr val="F1F5F8"/>
          </a:solidFill>
          <a:ln w="12700">
            <a:solidFill>
              <a:srgbClr val="DCE6EB"/>
            </a:solidFill>
            <a:prstDash val="solid"/>
          </a:ln>
          <a:effectLst>
            <a:outerShdw sx="100000" sy="100000" kx="0" ky="0" algn="bl" rotWithShape="0" blurRad="76200" dist="25400" dir="5400000">
              <a:srgbClr val="0B1B2B">
                <a:alpha val="18000"/>
              </a:srgbClr>
            </a:outerShdw>
          </a:effectLst>
        </p:spPr>
      </p:sp>
      <p:sp>
        <p:nvSpPr>
          <p:cNvPr id="25" name="Shape 19"/>
          <p:cNvSpPr/>
          <p:nvPr/>
        </p:nvSpPr>
        <p:spPr>
          <a:xfrm>
            <a:off x="4626864" y="3941064"/>
            <a:ext cx="566928" cy="566928"/>
          </a:xfrm>
          <a:prstGeom prst="ellipse">
            <a:avLst/>
          </a:prstGeom>
          <a:solidFill>
            <a:srgbClr val="1C7293"/>
          </a:solidFill>
          <a:ln/>
        </p:spPr>
      </p:sp>
      <p:pic>
        <p:nvPicPr>
          <p:cNvPr id="26" name="Image 4" descr="C:\Users\USER\AppData\Local\Temp\claude\C--Users-biche-cloud-heroes-africa-platform\c742e88a-fbba-45b1-8382-f8dad19948a7\scratchpad\pptx-build\icons\lifebuoy_FFFFFF.png">    </p:cNvPr>
          <p:cNvPicPr>
            <a:picLocks noChangeAspect="1"/>
          </p:cNvPicPr>
          <p:nvPr/>
        </p:nvPicPr>
        <p:blipFill>
          <a:blip r:embed="rId5"/>
          <a:stretch>
            <a:fillRect/>
          </a:stretch>
        </p:blipFill>
        <p:spPr>
          <a:xfrm>
            <a:off x="4773168" y="4087368"/>
            <a:ext cx="274320" cy="274320"/>
          </a:xfrm>
          <a:prstGeom prst="rect">
            <a:avLst/>
          </a:prstGeom>
        </p:spPr>
      </p:pic>
      <p:sp>
        <p:nvSpPr>
          <p:cNvPr id="27" name="Text 20"/>
          <p:cNvSpPr txBox="1"/>
          <p:nvPr/>
        </p:nvSpPr>
        <p:spPr>
          <a:xfrm>
            <a:off x="5330952" y="3922776"/>
            <a:ext cx="2423160" cy="548640"/>
          </a:xfrm>
          <a:prstGeom prst="rect">
            <a:avLst/>
          </a:prstGeom>
          <a:noFill/>
          <a:ln/>
        </p:spPr>
        <p:txBody>
          <a:bodyPr wrap="square" lIns="0" tIns="0" rIns="0" bIns="0" rtlCol="0" anchor="ctr"/>
          <a:lstStyle/>
          <a:p>
            <a:pPr indent="0" marL="0">
              <a:buNone/>
            </a:pPr>
            <a:r>
              <a:rPr lang="en-US" sz="1650" b="1" dirty="0">
                <a:solidFill>
                  <a:srgbClr val="21295C"/>
                </a:solidFill>
                <a:latin typeface="Cambria" pitchFamily="34" charset="0"/>
                <a:ea typeface="Cambria" pitchFamily="34" charset="-122"/>
                <a:cs typeface="Cambria" pitchFamily="34" charset="-120"/>
              </a:rPr>
              <a:t>Support</a:t>
            </a:r>
            <a:endParaRPr lang="en-US" sz="1650" dirty="0"/>
          </a:p>
        </p:txBody>
      </p:sp>
      <p:sp>
        <p:nvSpPr>
          <p:cNvPr id="28" name="Text 21"/>
          <p:cNvSpPr txBox="1"/>
          <p:nvPr/>
        </p:nvSpPr>
        <p:spPr>
          <a:xfrm>
            <a:off x="4626864" y="4599432"/>
            <a:ext cx="3099816" cy="868680"/>
          </a:xfrm>
          <a:prstGeom prst="rect">
            <a:avLst/>
          </a:prstGeom>
          <a:noFill/>
          <a:ln/>
        </p:spPr>
        <p:txBody>
          <a:bodyPr wrap="square" lIns="0" tIns="0" rIns="0" bIns="0" rtlCol="0" anchor="ctr"/>
          <a:lstStyle/>
          <a:p>
            <a:pPr indent="0" marL="0">
              <a:lnSpc>
                <a:spcPct val="118000"/>
              </a:lnSpc>
              <a:buNone/>
            </a:pPr>
            <a:r>
              <a:rPr lang="en-US" sz="1250" dirty="0">
                <a:solidFill>
                  <a:srgbClr val="1B2430"/>
                </a:solidFill>
                <a:latin typeface="Calibri" pitchFamily="34" charset="0"/>
                <a:ea typeface="Calibri" pitchFamily="34" charset="-122"/>
                <a:cs typeface="Calibri" pitchFamily="34" charset="-120"/>
              </a:rPr>
              <a:t>Help Desk / Service Desk tickets, plus a security audit log.</a:t>
            </a:r>
            <a:endParaRPr lang="en-US" sz="1250" dirty="0"/>
          </a:p>
        </p:txBody>
      </p:sp>
      <p:sp>
        <p:nvSpPr>
          <p:cNvPr id="29" name="Shape 22"/>
          <p:cNvSpPr/>
          <p:nvPr/>
        </p:nvSpPr>
        <p:spPr>
          <a:xfrm>
            <a:off x="8238744" y="3685032"/>
            <a:ext cx="3611880" cy="1965960"/>
          </a:xfrm>
          <a:prstGeom prst="roundRect">
            <a:avLst>
              <a:gd name="adj" fmla="val 3721"/>
            </a:avLst>
          </a:prstGeom>
          <a:solidFill>
            <a:srgbClr val="F1F5F8"/>
          </a:solidFill>
          <a:ln w="12700">
            <a:solidFill>
              <a:srgbClr val="DCE6EB"/>
            </a:solidFill>
            <a:prstDash val="solid"/>
          </a:ln>
          <a:effectLst>
            <a:outerShdw sx="100000" sy="100000" kx="0" ky="0" algn="bl" rotWithShape="0" blurRad="76200" dist="25400" dir="5400000">
              <a:srgbClr val="0B1B2B">
                <a:alpha val="18000"/>
              </a:srgbClr>
            </a:outerShdw>
          </a:effectLst>
        </p:spPr>
      </p:sp>
      <p:sp>
        <p:nvSpPr>
          <p:cNvPr id="30" name="Shape 23"/>
          <p:cNvSpPr/>
          <p:nvPr/>
        </p:nvSpPr>
        <p:spPr>
          <a:xfrm>
            <a:off x="8494776" y="3941064"/>
            <a:ext cx="566928" cy="566928"/>
          </a:xfrm>
          <a:prstGeom prst="ellipse">
            <a:avLst/>
          </a:prstGeom>
          <a:solidFill>
            <a:srgbClr val="1C7293"/>
          </a:solidFill>
          <a:ln/>
        </p:spPr>
      </p:sp>
      <p:pic>
        <p:nvPicPr>
          <p:cNvPr id="31" name="Image 5" descr="C:\Users\USER\AppData\Local\Temp\claude\C--Users-biche-cloud-heroes-africa-platform\c742e88a-fbba-45b1-8382-f8dad19948a7\scratchpad\pptx-build\icons\list_FFFFFF.png">    </p:cNvPr>
          <p:cNvPicPr>
            <a:picLocks noChangeAspect="1"/>
          </p:cNvPicPr>
          <p:nvPr/>
        </p:nvPicPr>
        <p:blipFill>
          <a:blip r:embed="rId6"/>
          <a:stretch>
            <a:fillRect/>
          </a:stretch>
        </p:blipFill>
        <p:spPr>
          <a:xfrm>
            <a:off x="8641080" y="4087368"/>
            <a:ext cx="274320" cy="274320"/>
          </a:xfrm>
          <a:prstGeom prst="rect">
            <a:avLst/>
          </a:prstGeom>
        </p:spPr>
      </p:pic>
      <p:sp>
        <p:nvSpPr>
          <p:cNvPr id="32" name="Text 24"/>
          <p:cNvSpPr txBox="1"/>
          <p:nvPr/>
        </p:nvSpPr>
        <p:spPr>
          <a:xfrm>
            <a:off x="9198864" y="3922776"/>
            <a:ext cx="2423160" cy="548640"/>
          </a:xfrm>
          <a:prstGeom prst="rect">
            <a:avLst/>
          </a:prstGeom>
          <a:noFill/>
          <a:ln/>
        </p:spPr>
        <p:txBody>
          <a:bodyPr wrap="square" lIns="0" tIns="0" rIns="0" bIns="0" rtlCol="0" anchor="ctr"/>
          <a:lstStyle/>
          <a:p>
            <a:pPr indent="0" marL="0">
              <a:buNone/>
            </a:pPr>
            <a:r>
              <a:rPr lang="en-US" sz="1650" b="1" dirty="0">
                <a:solidFill>
                  <a:srgbClr val="21295C"/>
                </a:solidFill>
                <a:latin typeface="Cambria" pitchFamily="34" charset="0"/>
                <a:ea typeface="Cambria" pitchFamily="34" charset="-122"/>
                <a:cs typeface="Cambria" pitchFamily="34" charset="-120"/>
              </a:rPr>
              <a:t>Student Hub Extras</a:t>
            </a:r>
            <a:endParaRPr lang="en-US" sz="1650" dirty="0"/>
          </a:p>
        </p:txBody>
      </p:sp>
      <p:sp>
        <p:nvSpPr>
          <p:cNvPr id="33" name="Text 25"/>
          <p:cNvSpPr txBox="1"/>
          <p:nvPr/>
        </p:nvSpPr>
        <p:spPr>
          <a:xfrm>
            <a:off x="8494776" y="4599432"/>
            <a:ext cx="3099816" cy="868680"/>
          </a:xfrm>
          <a:prstGeom prst="rect">
            <a:avLst/>
          </a:prstGeom>
          <a:noFill/>
          <a:ln/>
        </p:spPr>
        <p:txBody>
          <a:bodyPr wrap="square" lIns="0" tIns="0" rIns="0" bIns="0" rtlCol="0" anchor="ctr"/>
          <a:lstStyle/>
          <a:p>
            <a:pPr indent="0" marL="0">
              <a:lnSpc>
                <a:spcPct val="118000"/>
              </a:lnSpc>
              <a:buNone/>
            </a:pPr>
            <a:r>
              <a:rPr lang="en-US" sz="1250" dirty="0">
                <a:solidFill>
                  <a:srgbClr val="1B2430"/>
                </a:solidFill>
                <a:latin typeface="Calibri" pitchFamily="34" charset="0"/>
                <a:ea typeface="Calibri" pitchFamily="34" charset="-122"/>
                <a:cs typeface="Calibri" pitchFamily="34" charset="-120"/>
              </a:rPr>
              <a:t>To-dos, calendar events, and Student Hub's own simplified course catalog.</a:t>
            </a:r>
            <a:endParaRPr lang="en-US" sz="1250" dirty="0"/>
          </a:p>
        </p:txBody>
      </p:sp>
      <p:sp>
        <p:nvSpPr>
          <p:cNvPr id="34" name="Text 26"/>
          <p:cNvSpPr txBox="1"/>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How the Platform's Database Is Designed</a:t>
            </a:r>
            <a:endParaRPr lang="en-US" sz="1000" dirty="0"/>
          </a:p>
        </p:txBody>
      </p:sp>
      <p:sp>
        <p:nvSpPr>
          <p:cNvPr id="35" name="Text 27"/>
          <p:cNvSpPr txBox="1"/>
          <p:nvPr/>
        </p:nvSpPr>
        <p:spPr>
          <a:xfrm>
            <a:off x="11338560" y="6528816"/>
            <a:ext cx="45720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05156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ZOOM IN</a:t>
            </a:r>
            <a:endParaRPr lang="en-US" sz="1300" dirty="0"/>
          </a:p>
        </p:txBody>
      </p:sp>
      <p:sp>
        <p:nvSpPr>
          <p:cNvPr id="3" name="Text 1"/>
          <p:cNvSpPr txBox="1"/>
          <p:nvPr/>
        </p:nvSpPr>
        <p:spPr>
          <a:xfrm>
            <a:off x="457200" y="621792"/>
            <a:ext cx="1124712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Testing &amp; Assessment — the Most Built-Out Piece</a:t>
            </a:r>
            <a:endParaRPr lang="en-US" sz="3000" dirty="0"/>
          </a:p>
        </p:txBody>
      </p:sp>
      <p:sp>
        <p:nvSpPr>
          <p:cNvPr id="4" name="Shape 2"/>
          <p:cNvSpPr/>
          <p:nvPr/>
        </p:nvSpPr>
        <p:spPr>
          <a:xfrm>
            <a:off x="548640" y="2011680"/>
            <a:ext cx="2514600" cy="1691640"/>
          </a:xfrm>
          <a:prstGeom prst="roundRect">
            <a:avLst>
              <a:gd name="adj" fmla="val 4324"/>
            </a:avLst>
          </a:prstGeom>
          <a:solidFill>
            <a:srgbClr val="FFFFFF"/>
          </a:solidFill>
          <a:ln w="12700">
            <a:solidFill>
              <a:srgbClr val="DCE6EB"/>
            </a:solidFill>
            <a:prstDash val="solid"/>
          </a:ln>
          <a:effectLst>
            <a:outerShdw sx="100000" sy="100000" kx="0" ky="0" algn="bl" rotWithShape="0" blurRad="76200" dist="25400" dir="5400000">
              <a:srgbClr val="0B1B2B">
                <a:alpha val="18000"/>
              </a:srgbClr>
            </a:outerShdw>
          </a:effectLst>
        </p:spPr>
      </p:sp>
      <p:sp>
        <p:nvSpPr>
          <p:cNvPr id="5" name="Text 3"/>
          <p:cNvSpPr txBox="1"/>
          <p:nvPr/>
        </p:nvSpPr>
        <p:spPr>
          <a:xfrm>
            <a:off x="731520" y="2148840"/>
            <a:ext cx="457200" cy="365760"/>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731520" y="2514600"/>
            <a:ext cx="2148840" cy="457200"/>
          </a:xfrm>
          <a:prstGeom prst="rect">
            <a:avLst/>
          </a:prstGeom>
          <a:noFill/>
          <a:ln/>
        </p:spPr>
        <p:txBody>
          <a:bodyPr wrap="square" lIns="0" tIns="0" rIns="0" bIns="0"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Question Bank</a:t>
            </a:r>
            <a:endParaRPr lang="en-US" sz="1550" dirty="0"/>
          </a:p>
        </p:txBody>
      </p:sp>
      <p:sp>
        <p:nvSpPr>
          <p:cNvPr id="7" name="Text 5"/>
          <p:cNvSpPr txBox="1"/>
          <p:nvPr/>
        </p:nvSpPr>
        <p:spPr>
          <a:xfrm>
            <a:off x="731520" y="2944368"/>
            <a:ext cx="2148840" cy="685800"/>
          </a:xfrm>
          <a:prstGeom prst="rect">
            <a:avLst/>
          </a:prstGeom>
          <a:noFill/>
          <a:ln/>
        </p:spPr>
        <p:txBody>
          <a:bodyPr wrap="square" lIns="0" tIns="0" rIns="0" bIns="0" rtlCol="0" anchor="ctr"/>
          <a:lstStyle/>
          <a:p>
            <a:pPr indent="0" marL="0">
              <a:lnSpc>
                <a:spcPct val="115000"/>
              </a:lnSpc>
              <a:buNone/>
            </a:pPr>
            <a:r>
              <a:rPr lang="en-US" sz="1150" dirty="0">
                <a:solidFill>
                  <a:srgbClr val="5B6B79"/>
                </a:solidFill>
                <a:latin typeface="Calibri" pitchFamily="34" charset="0"/>
                <a:ea typeface="Calibri" pitchFamily="34" charset="-122"/>
                <a:cs typeface="Calibri" pitchFamily="34" charset="-120"/>
              </a:rPr>
              <a:t>Questions tagged by topic and difficulty (easy / medium / difficult).</a:t>
            </a:r>
            <a:endParaRPr lang="en-US" sz="1150" dirty="0"/>
          </a:p>
        </p:txBody>
      </p:sp>
      <p:sp>
        <p:nvSpPr>
          <p:cNvPr id="8" name="Text 6"/>
          <p:cNvSpPr txBox="1"/>
          <p:nvPr/>
        </p:nvSpPr>
        <p:spPr>
          <a:xfrm>
            <a:off x="3063240" y="2537460"/>
            <a:ext cx="384048" cy="640080"/>
          </a:xfrm>
          <a:prstGeom prst="rect">
            <a:avLst/>
          </a:prstGeom>
          <a:noFill/>
          <a:ln/>
        </p:spPr>
        <p:txBody>
          <a:bodyPr wrap="square" lIns="0" tIns="0" rIns="0" bIns="0" rtlCol="0" anchor="ctr"/>
          <a:lstStyle/>
          <a:p>
            <a:pPr algn="ctr" indent="0" marL="0">
              <a:buNone/>
            </a:pPr>
            <a:r>
              <a:rPr lang="en-US" sz="2600" b="1" dirty="0">
                <a:solidFill>
                  <a:srgbClr val="1C7293"/>
                </a:solidFill>
                <a:latin typeface="Calibri" pitchFamily="34" charset="0"/>
                <a:ea typeface="Calibri" pitchFamily="34" charset="-122"/>
                <a:cs typeface="Calibri" pitchFamily="34" charset="-120"/>
              </a:rPr>
              <a:t>→</a:t>
            </a:r>
            <a:endParaRPr lang="en-US" sz="2600" dirty="0"/>
          </a:p>
        </p:txBody>
      </p:sp>
      <p:sp>
        <p:nvSpPr>
          <p:cNvPr id="9" name="Shape 7"/>
          <p:cNvSpPr/>
          <p:nvPr/>
        </p:nvSpPr>
        <p:spPr>
          <a:xfrm>
            <a:off x="3447288" y="2011680"/>
            <a:ext cx="2514600" cy="1691640"/>
          </a:xfrm>
          <a:prstGeom prst="roundRect">
            <a:avLst>
              <a:gd name="adj" fmla="val 4324"/>
            </a:avLst>
          </a:prstGeom>
          <a:solidFill>
            <a:srgbClr val="FFFFFF"/>
          </a:solidFill>
          <a:ln w="12700">
            <a:solidFill>
              <a:srgbClr val="DCE6EB"/>
            </a:solidFill>
            <a:prstDash val="solid"/>
          </a:ln>
          <a:effectLst>
            <a:outerShdw sx="100000" sy="100000" kx="0" ky="0" algn="bl" rotWithShape="0" blurRad="76200" dist="25400" dir="5400000">
              <a:srgbClr val="0B1B2B">
                <a:alpha val="18000"/>
              </a:srgbClr>
            </a:outerShdw>
          </a:effectLst>
        </p:spPr>
      </p:sp>
      <p:sp>
        <p:nvSpPr>
          <p:cNvPr id="10" name="Text 8"/>
          <p:cNvSpPr txBox="1"/>
          <p:nvPr/>
        </p:nvSpPr>
        <p:spPr>
          <a:xfrm>
            <a:off x="3630168" y="2148840"/>
            <a:ext cx="457200" cy="365760"/>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3630168" y="2514600"/>
            <a:ext cx="2148840" cy="457200"/>
          </a:xfrm>
          <a:prstGeom prst="rect">
            <a:avLst/>
          </a:prstGeom>
          <a:noFill/>
          <a:ln/>
        </p:spPr>
        <p:txBody>
          <a:bodyPr wrap="square" lIns="0" tIns="0" rIns="0" bIns="0"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Assessment Attempt</a:t>
            </a:r>
            <a:endParaRPr lang="en-US" sz="1550" dirty="0"/>
          </a:p>
        </p:txBody>
      </p:sp>
      <p:sp>
        <p:nvSpPr>
          <p:cNvPr id="12" name="Text 10"/>
          <p:cNvSpPr txBox="1"/>
          <p:nvPr/>
        </p:nvSpPr>
        <p:spPr>
          <a:xfrm>
            <a:off x="3630168" y="2944368"/>
            <a:ext cx="2148840" cy="685800"/>
          </a:xfrm>
          <a:prstGeom prst="rect">
            <a:avLst/>
          </a:prstGeom>
          <a:noFill/>
          <a:ln/>
        </p:spPr>
        <p:txBody>
          <a:bodyPr wrap="square" lIns="0" tIns="0" rIns="0" bIns="0" rtlCol="0" anchor="ctr"/>
          <a:lstStyle/>
          <a:p>
            <a:pPr indent="0" marL="0">
              <a:lnSpc>
                <a:spcPct val="115000"/>
              </a:lnSpc>
              <a:buNone/>
            </a:pPr>
            <a:r>
              <a:rPr lang="en-US" sz="1150" dirty="0">
                <a:solidFill>
                  <a:srgbClr val="5B6B79"/>
                </a:solidFill>
                <a:latin typeface="Calibri" pitchFamily="34" charset="0"/>
                <a:ea typeface="Calibri" pitchFamily="34" charset="-122"/>
                <a:cs typeface="Calibri" pitchFamily="34" charset="-120"/>
              </a:rPr>
              <a:t>A randomized set is drawn per attempt, with a server-side timer.</a:t>
            </a:r>
            <a:endParaRPr lang="en-US" sz="1150" dirty="0"/>
          </a:p>
        </p:txBody>
      </p:sp>
      <p:sp>
        <p:nvSpPr>
          <p:cNvPr id="13" name="Text 11"/>
          <p:cNvSpPr txBox="1"/>
          <p:nvPr/>
        </p:nvSpPr>
        <p:spPr>
          <a:xfrm>
            <a:off x="5961888" y="2537460"/>
            <a:ext cx="384048" cy="640080"/>
          </a:xfrm>
          <a:prstGeom prst="rect">
            <a:avLst/>
          </a:prstGeom>
          <a:noFill/>
          <a:ln/>
        </p:spPr>
        <p:txBody>
          <a:bodyPr wrap="square" lIns="0" tIns="0" rIns="0" bIns="0" rtlCol="0" anchor="ctr"/>
          <a:lstStyle/>
          <a:p>
            <a:pPr algn="ctr" indent="0" marL="0">
              <a:buNone/>
            </a:pPr>
            <a:r>
              <a:rPr lang="en-US" sz="2600" b="1" dirty="0">
                <a:solidFill>
                  <a:srgbClr val="1C7293"/>
                </a:solidFill>
                <a:latin typeface="Calibri" pitchFamily="34" charset="0"/>
                <a:ea typeface="Calibri" pitchFamily="34" charset="-122"/>
                <a:cs typeface="Calibri" pitchFamily="34" charset="-120"/>
              </a:rPr>
              <a:t>→</a:t>
            </a:r>
            <a:endParaRPr lang="en-US" sz="2600" dirty="0"/>
          </a:p>
        </p:txBody>
      </p:sp>
      <p:sp>
        <p:nvSpPr>
          <p:cNvPr id="14" name="Shape 12"/>
          <p:cNvSpPr/>
          <p:nvPr/>
        </p:nvSpPr>
        <p:spPr>
          <a:xfrm>
            <a:off x="6345936" y="2011680"/>
            <a:ext cx="2514600" cy="1691640"/>
          </a:xfrm>
          <a:prstGeom prst="roundRect">
            <a:avLst>
              <a:gd name="adj" fmla="val 4324"/>
            </a:avLst>
          </a:prstGeom>
          <a:solidFill>
            <a:srgbClr val="FFFFFF"/>
          </a:solidFill>
          <a:ln w="12700">
            <a:solidFill>
              <a:srgbClr val="DCE6EB"/>
            </a:solidFill>
            <a:prstDash val="solid"/>
          </a:ln>
          <a:effectLst>
            <a:outerShdw sx="100000" sy="100000" kx="0" ky="0" algn="bl" rotWithShape="0" blurRad="76200" dist="25400" dir="5400000">
              <a:srgbClr val="0B1B2B">
                <a:alpha val="18000"/>
              </a:srgbClr>
            </a:outerShdw>
          </a:effectLst>
        </p:spPr>
      </p:sp>
      <p:sp>
        <p:nvSpPr>
          <p:cNvPr id="15" name="Text 13"/>
          <p:cNvSpPr txBox="1"/>
          <p:nvPr/>
        </p:nvSpPr>
        <p:spPr>
          <a:xfrm>
            <a:off x="6528816" y="2148840"/>
            <a:ext cx="457200" cy="365760"/>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3</a:t>
            </a:r>
            <a:endParaRPr lang="en-US" sz="1500" dirty="0"/>
          </a:p>
        </p:txBody>
      </p:sp>
      <p:sp>
        <p:nvSpPr>
          <p:cNvPr id="16" name="Text 14"/>
          <p:cNvSpPr txBox="1"/>
          <p:nvPr/>
        </p:nvSpPr>
        <p:spPr>
          <a:xfrm>
            <a:off x="6528816" y="2514600"/>
            <a:ext cx="2148840" cy="457200"/>
          </a:xfrm>
          <a:prstGeom prst="rect">
            <a:avLst/>
          </a:prstGeom>
          <a:noFill/>
          <a:ln/>
        </p:spPr>
        <p:txBody>
          <a:bodyPr wrap="square" lIns="0" tIns="0" rIns="0" bIns="0"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Save &amp; Resume</a:t>
            </a:r>
            <a:endParaRPr lang="en-US" sz="1550" dirty="0"/>
          </a:p>
        </p:txBody>
      </p:sp>
      <p:sp>
        <p:nvSpPr>
          <p:cNvPr id="17" name="Text 15"/>
          <p:cNvSpPr txBox="1"/>
          <p:nvPr/>
        </p:nvSpPr>
        <p:spPr>
          <a:xfrm>
            <a:off x="6528816" y="2944368"/>
            <a:ext cx="2148840" cy="685800"/>
          </a:xfrm>
          <a:prstGeom prst="rect">
            <a:avLst/>
          </a:prstGeom>
          <a:noFill/>
          <a:ln/>
        </p:spPr>
        <p:txBody>
          <a:bodyPr wrap="square" lIns="0" tIns="0" rIns="0" bIns="0" rtlCol="0" anchor="ctr"/>
          <a:lstStyle/>
          <a:p>
            <a:pPr indent="0" marL="0">
              <a:lnSpc>
                <a:spcPct val="115000"/>
              </a:lnSpc>
              <a:buNone/>
            </a:pPr>
            <a:r>
              <a:rPr lang="en-US" sz="1150" dirty="0">
                <a:solidFill>
                  <a:srgbClr val="5B6B79"/>
                </a:solidFill>
                <a:latin typeface="Calibri" pitchFamily="34" charset="0"/>
                <a:ea typeface="Calibri" pitchFamily="34" charset="-122"/>
                <a:cs typeface="Calibri" pitchFamily="34" charset="-120"/>
              </a:rPr>
              <a:t>Answers are saved progressively; a student can leave and come back.</a:t>
            </a:r>
            <a:endParaRPr lang="en-US" sz="1150" dirty="0"/>
          </a:p>
        </p:txBody>
      </p:sp>
      <p:sp>
        <p:nvSpPr>
          <p:cNvPr id="18" name="Text 16"/>
          <p:cNvSpPr txBox="1"/>
          <p:nvPr/>
        </p:nvSpPr>
        <p:spPr>
          <a:xfrm>
            <a:off x="8860536" y="2537460"/>
            <a:ext cx="384048" cy="640080"/>
          </a:xfrm>
          <a:prstGeom prst="rect">
            <a:avLst/>
          </a:prstGeom>
          <a:noFill/>
          <a:ln/>
        </p:spPr>
        <p:txBody>
          <a:bodyPr wrap="square" lIns="0" tIns="0" rIns="0" bIns="0" rtlCol="0" anchor="ctr"/>
          <a:lstStyle/>
          <a:p>
            <a:pPr algn="ctr" indent="0" marL="0">
              <a:buNone/>
            </a:pPr>
            <a:r>
              <a:rPr lang="en-US" sz="2600" b="1" dirty="0">
                <a:solidFill>
                  <a:srgbClr val="1C7293"/>
                </a:solidFill>
                <a:latin typeface="Calibri" pitchFamily="34" charset="0"/>
                <a:ea typeface="Calibri" pitchFamily="34" charset="-122"/>
                <a:cs typeface="Calibri" pitchFamily="34" charset="-120"/>
              </a:rPr>
              <a:t>→</a:t>
            </a:r>
            <a:endParaRPr lang="en-US" sz="2600" dirty="0"/>
          </a:p>
        </p:txBody>
      </p:sp>
      <p:sp>
        <p:nvSpPr>
          <p:cNvPr id="19" name="Shape 17"/>
          <p:cNvSpPr/>
          <p:nvPr/>
        </p:nvSpPr>
        <p:spPr>
          <a:xfrm>
            <a:off x="9244584" y="2011680"/>
            <a:ext cx="2514600" cy="1691640"/>
          </a:xfrm>
          <a:prstGeom prst="roundRect">
            <a:avLst>
              <a:gd name="adj" fmla="val 4324"/>
            </a:avLst>
          </a:prstGeom>
          <a:solidFill>
            <a:srgbClr val="21295C"/>
          </a:solidFill>
          <a:ln w="12700">
            <a:solidFill>
              <a:srgbClr val="DCE6EB"/>
            </a:solidFill>
            <a:prstDash val="solid"/>
          </a:ln>
          <a:effectLst>
            <a:outerShdw sx="100000" sy="100000" kx="0" ky="0" algn="bl" rotWithShape="0" blurRad="76200" dist="25400" dir="5400000">
              <a:srgbClr val="0B1B2B">
                <a:alpha val="18000"/>
              </a:srgbClr>
            </a:outerShdw>
          </a:effectLst>
        </p:spPr>
      </p:sp>
      <p:sp>
        <p:nvSpPr>
          <p:cNvPr id="20" name="Text 18"/>
          <p:cNvSpPr txBox="1"/>
          <p:nvPr/>
        </p:nvSpPr>
        <p:spPr>
          <a:xfrm>
            <a:off x="9427464" y="2148840"/>
            <a:ext cx="457200" cy="365760"/>
          </a:xfrm>
          <a:prstGeom prst="rect">
            <a:avLst/>
          </a:prstGeom>
          <a:noFill/>
          <a:ln/>
        </p:spPr>
        <p:txBody>
          <a:bodyPr wrap="square" lIns="0" tIns="0" rIns="0" bIns="0" rtlCol="0" anchor="ctr"/>
          <a:lstStyle/>
          <a:p>
            <a:pPr indent="0" marL="0">
              <a:buNone/>
            </a:pPr>
            <a:r>
              <a:rPr lang="en-US" sz="1500" b="1" dirty="0">
                <a:solidFill>
                  <a:srgbClr val="5FB4A2"/>
                </a:solidFill>
                <a:latin typeface="Cambria" pitchFamily="34" charset="0"/>
                <a:ea typeface="Cambria" pitchFamily="34" charset="-122"/>
                <a:cs typeface="Cambria" pitchFamily="34" charset="-120"/>
              </a:rPr>
              <a:t>4</a:t>
            </a:r>
            <a:endParaRPr lang="en-US" sz="1500" dirty="0"/>
          </a:p>
        </p:txBody>
      </p:sp>
      <p:sp>
        <p:nvSpPr>
          <p:cNvPr id="21" name="Text 19"/>
          <p:cNvSpPr txBox="1"/>
          <p:nvPr/>
        </p:nvSpPr>
        <p:spPr>
          <a:xfrm>
            <a:off x="9427464" y="2514600"/>
            <a:ext cx="2148840" cy="45720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Scored Result</a:t>
            </a:r>
            <a:endParaRPr lang="en-US" sz="1550" dirty="0"/>
          </a:p>
        </p:txBody>
      </p:sp>
      <p:sp>
        <p:nvSpPr>
          <p:cNvPr id="22" name="Text 20"/>
          <p:cNvSpPr txBox="1"/>
          <p:nvPr/>
        </p:nvSpPr>
        <p:spPr>
          <a:xfrm>
            <a:off x="9427464" y="2944368"/>
            <a:ext cx="2148840" cy="685800"/>
          </a:xfrm>
          <a:prstGeom prst="rect">
            <a:avLst/>
          </a:prstGeom>
          <a:noFill/>
          <a:ln/>
        </p:spPr>
        <p:txBody>
          <a:bodyPr wrap="square" lIns="0" tIns="0" rIns="0" bIns="0" rtlCol="0" anchor="ctr"/>
          <a:lstStyle/>
          <a:p>
            <a:pPr indent="0" marL="0">
              <a:lnSpc>
                <a:spcPct val="115000"/>
              </a:lnSpc>
              <a:buNone/>
            </a:pPr>
            <a:r>
              <a:rPr lang="en-US" sz="1150" dirty="0">
                <a:solidFill>
                  <a:srgbClr val="C9DCE6"/>
                </a:solidFill>
                <a:latin typeface="Calibri" pitchFamily="34" charset="0"/>
                <a:ea typeface="Calibri" pitchFamily="34" charset="-122"/>
                <a:cs typeface="Calibri" pitchFamily="34" charset="-120"/>
              </a:rPr>
              <a:t>Full history kept per attempt, plus a cooldown before the next retake.</a:t>
            </a:r>
            <a:endParaRPr lang="en-US" sz="1150" dirty="0"/>
          </a:p>
        </p:txBody>
      </p:sp>
      <p:sp>
        <p:nvSpPr>
          <p:cNvPr id="23" name="Shape 21"/>
          <p:cNvSpPr/>
          <p:nvPr/>
        </p:nvSpPr>
        <p:spPr>
          <a:xfrm>
            <a:off x="548640" y="3977640"/>
            <a:ext cx="5166360" cy="1600200"/>
          </a:xfrm>
          <a:prstGeom prst="roundRect">
            <a:avLst>
              <a:gd name="adj" fmla="val 4571"/>
            </a:avLst>
          </a:prstGeom>
          <a:solidFill>
            <a:srgbClr val="F1F5F8"/>
          </a:solidFill>
          <a:ln w="12700">
            <a:solidFill>
              <a:srgbClr val="DCE6EB"/>
            </a:solidFill>
            <a:prstDash val="solid"/>
          </a:ln>
          <a:effectLst>
            <a:outerShdw sx="100000" sy="100000" kx="0" ky="0" algn="bl" rotWithShape="0" blurRad="76200" dist="25400" dir="5400000">
              <a:srgbClr val="0B1B2B">
                <a:alpha val="18000"/>
              </a:srgbClr>
            </a:outerShdw>
          </a:effectLst>
        </p:spPr>
      </p:sp>
      <p:pic>
        <p:nvPicPr>
          <p:cNvPr id="24" name="Image 0" descr="C:\Users\USER\AppData\Local\Temp\claude\C--Users-biche-cloud-heroes-africa-platform\c742e88a-fbba-45b1-8382-f8dad19948a7\scratchpad\pptx-build\icons\clipboard_065A82.png">    </p:cNvPr>
          <p:cNvPicPr>
            <a:picLocks noChangeAspect="1"/>
          </p:cNvPicPr>
          <p:nvPr/>
        </p:nvPicPr>
        <p:blipFill>
          <a:blip r:embed="rId1"/>
          <a:stretch>
            <a:fillRect/>
          </a:stretch>
        </p:blipFill>
        <p:spPr>
          <a:xfrm>
            <a:off x="804672" y="4206240"/>
            <a:ext cx="420624" cy="420624"/>
          </a:xfrm>
          <a:prstGeom prst="rect">
            <a:avLst/>
          </a:prstGeom>
        </p:spPr>
      </p:pic>
      <p:sp>
        <p:nvSpPr>
          <p:cNvPr id="25" name="Text 22"/>
          <p:cNvSpPr txBox="1"/>
          <p:nvPr/>
        </p:nvSpPr>
        <p:spPr>
          <a:xfrm>
            <a:off x="1371600" y="4114800"/>
            <a:ext cx="4206240" cy="1371600"/>
          </a:xfrm>
          <a:prstGeom prst="rect">
            <a:avLst/>
          </a:prstGeom>
          <a:noFill/>
          <a:ln/>
        </p:spPr>
        <p:txBody>
          <a:bodyPr wrap="square" lIns="0" tIns="0" rIns="0" bIns="0" rtlCol="0" anchor="ctr"/>
          <a:lstStyle/>
          <a:p>
            <a:pPr indent="0" marL="0">
              <a:lnSpc>
                <a:spcPct val="120000"/>
              </a:lnSpc>
              <a:buNone/>
            </a:pPr>
            <a:r>
              <a:rPr lang="en-US" sz="1350" b="1" dirty="0">
                <a:solidFill>
                  <a:srgbClr val="21295C"/>
                </a:solidFill>
                <a:latin typeface="Calibri" pitchFamily="34" charset="0"/>
                <a:ea typeface="Calibri" pitchFamily="34" charset="-122"/>
                <a:cs typeface="Calibri" pitchFamily="34" charset="-120"/>
              </a:rPr>
              <a:t>Knowledge Checks</a:t>
            </a:r>
            <a:endParaRPr lang="en-US" sz="1350" dirty="0"/>
          </a:p>
          <a:p>
            <a:pPr indent="0" marL="0">
              <a:lnSpc>
                <a:spcPct val="120000"/>
              </a:lnSpc>
              <a:buNone/>
            </a:pPr>
            <a:r>
              <a:rPr lang="en-US" sz="1250" dirty="0">
                <a:solidFill>
                  <a:srgbClr val="1B2430"/>
                </a:solidFill>
                <a:latin typeface="Calibri" pitchFamily="34" charset="0"/>
                <a:ea typeface="Calibri" pitchFamily="34" charset="-122"/>
                <a:cs typeface="Calibri" pitchFamily="34" charset="-120"/>
              </a:rPr>
              <a:t>A quick, in-unit quiz — checks understanding of one lesson before moving on.</a:t>
            </a:r>
            <a:endParaRPr lang="en-US" sz="1350" dirty="0"/>
          </a:p>
        </p:txBody>
      </p:sp>
      <p:sp>
        <p:nvSpPr>
          <p:cNvPr id="26" name="Shape 23"/>
          <p:cNvSpPr/>
          <p:nvPr/>
        </p:nvSpPr>
        <p:spPr>
          <a:xfrm>
            <a:off x="5989320" y="3977640"/>
            <a:ext cx="5669280" cy="1600200"/>
          </a:xfrm>
          <a:prstGeom prst="roundRect">
            <a:avLst>
              <a:gd name="adj" fmla="val 4571"/>
            </a:avLst>
          </a:prstGeom>
          <a:solidFill>
            <a:srgbClr val="F1F5F8"/>
          </a:solidFill>
          <a:ln w="12700">
            <a:solidFill>
              <a:srgbClr val="DCE6EB"/>
            </a:solidFill>
            <a:prstDash val="solid"/>
          </a:ln>
          <a:effectLst>
            <a:outerShdw sx="100000" sy="100000" kx="0" ky="0" algn="bl" rotWithShape="0" blurRad="76200" dist="25400" dir="5400000">
              <a:srgbClr val="0B1B2B">
                <a:alpha val="18000"/>
              </a:srgbClr>
            </a:outerShdw>
          </a:effectLst>
        </p:spPr>
      </p:sp>
      <p:pic>
        <p:nvPicPr>
          <p:cNvPr id="27" name="Image 1" descr="C:\Users\USER\AppData\Local\Temp\claude\C--Users-biche-cloud-heroes-africa-platform\c742e88a-fbba-45b1-8382-f8dad19948a7\scratchpad\pptx-build\icons\shield_065A82.png">    </p:cNvPr>
          <p:cNvPicPr>
            <a:picLocks noChangeAspect="1"/>
          </p:cNvPicPr>
          <p:nvPr/>
        </p:nvPicPr>
        <p:blipFill>
          <a:blip r:embed="rId2"/>
          <a:stretch>
            <a:fillRect/>
          </a:stretch>
        </p:blipFill>
        <p:spPr>
          <a:xfrm>
            <a:off x="6245352" y="4206240"/>
            <a:ext cx="420624" cy="420624"/>
          </a:xfrm>
          <a:prstGeom prst="rect">
            <a:avLst/>
          </a:prstGeom>
        </p:spPr>
      </p:pic>
      <p:sp>
        <p:nvSpPr>
          <p:cNvPr id="28" name="Text 24"/>
          <p:cNvSpPr txBox="1"/>
          <p:nvPr/>
        </p:nvSpPr>
        <p:spPr>
          <a:xfrm>
            <a:off x="6812280" y="4114800"/>
            <a:ext cx="4709160" cy="1371600"/>
          </a:xfrm>
          <a:prstGeom prst="rect">
            <a:avLst/>
          </a:prstGeom>
          <a:noFill/>
          <a:ln/>
        </p:spPr>
        <p:txBody>
          <a:bodyPr wrap="square" lIns="0" tIns="0" rIns="0" bIns="0" rtlCol="0" anchor="ctr"/>
          <a:lstStyle/>
          <a:p>
            <a:pPr indent="0" marL="0">
              <a:lnSpc>
                <a:spcPct val="120000"/>
              </a:lnSpc>
              <a:buNone/>
            </a:pPr>
            <a:r>
              <a:rPr lang="en-US" sz="1350" b="1" dirty="0">
                <a:solidFill>
                  <a:srgbClr val="21295C"/>
                </a:solidFill>
                <a:latin typeface="Calibri" pitchFamily="34" charset="0"/>
                <a:ea typeface="Calibri" pitchFamily="34" charset="-122"/>
                <a:cs typeface="Calibri" pitchFamily="34" charset="-120"/>
              </a:rPr>
              <a:t>Automatic Escalation</a:t>
            </a:r>
            <a:endParaRPr lang="en-US" sz="1350" dirty="0"/>
          </a:p>
          <a:p>
            <a:pPr indent="0" marL="0">
              <a:lnSpc>
                <a:spcPct val="120000"/>
              </a:lnSpc>
              <a:buNone/>
            </a:pPr>
            <a:r>
              <a:rPr lang="en-US" sz="1250" dirty="0">
                <a:solidFill>
                  <a:srgbClr val="1B2430"/>
                </a:solidFill>
                <a:latin typeface="Calibri" pitchFamily="34" charset="0"/>
                <a:ea typeface="Calibri" pitchFamily="34" charset="-122"/>
                <a:cs typeface="Calibri" pitchFamily="34" charset="-120"/>
              </a:rPr>
              <a:t>Repeated failure on a Check or Assessment automatically flags a staff member to follow up — no one has to notice it manually.</a:t>
            </a:r>
            <a:endParaRPr lang="en-US" sz="1350" dirty="0"/>
          </a:p>
        </p:txBody>
      </p:sp>
      <p:sp>
        <p:nvSpPr>
          <p:cNvPr id="29" name="Text 25"/>
          <p:cNvSpPr txBox="1"/>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How the Platform's Database Is Designed</a:t>
            </a:r>
            <a:endParaRPr lang="en-US" sz="1000" dirty="0"/>
          </a:p>
        </p:txBody>
      </p:sp>
      <p:sp>
        <p:nvSpPr>
          <p:cNvPr id="30" name="Text 26"/>
          <p:cNvSpPr txBox="1"/>
          <p:nvPr/>
        </p:nvSpPr>
        <p:spPr>
          <a:xfrm>
            <a:off x="11338560" y="6528816"/>
            <a:ext cx="45720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05156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SHAPE OF IT</a:t>
            </a:r>
            <a:endParaRPr lang="en-US" sz="1300" dirty="0"/>
          </a:p>
        </p:txBody>
      </p:sp>
      <p:sp>
        <p:nvSpPr>
          <p:cNvPr id="3" name="Text 1"/>
          <p:cNvSpPr txBox="1"/>
          <p:nvPr/>
        </p:nvSpPr>
        <p:spPr>
          <a:xfrm>
            <a:off x="457200" y="621792"/>
            <a:ext cx="1124712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How the Tables Connect</a:t>
            </a:r>
            <a:endParaRPr lang="en-US" sz="3000" dirty="0"/>
          </a:p>
        </p:txBody>
      </p:sp>
      <p:sp>
        <p:nvSpPr>
          <p:cNvPr id="4" name="Shape 2"/>
          <p:cNvSpPr/>
          <p:nvPr/>
        </p:nvSpPr>
        <p:spPr>
          <a:xfrm>
            <a:off x="1440180" y="1655064"/>
            <a:ext cx="3268980" cy="2185416"/>
          </a:xfrm>
          <a:prstGeom prst="line">
            <a:avLst/>
          </a:prstGeom>
          <a:noFill/>
          <a:ln w="22225">
            <a:solidFill>
              <a:srgbClr val="AFC3CE"/>
            </a:solidFill>
            <a:prstDash val="solid"/>
          </a:ln>
        </p:spPr>
      </p:sp>
      <p:sp>
        <p:nvSpPr>
          <p:cNvPr id="5" name="Shape 3"/>
          <p:cNvSpPr/>
          <p:nvPr/>
        </p:nvSpPr>
        <p:spPr>
          <a:xfrm flipV="1">
            <a:off x="4709160" y="1655064"/>
            <a:ext cx="182880" cy="2185416"/>
          </a:xfrm>
          <a:prstGeom prst="line">
            <a:avLst/>
          </a:prstGeom>
          <a:noFill/>
          <a:ln w="22225">
            <a:solidFill>
              <a:srgbClr val="AFC3CE"/>
            </a:solidFill>
            <a:prstDash val="solid"/>
          </a:ln>
        </p:spPr>
      </p:sp>
      <p:sp>
        <p:nvSpPr>
          <p:cNvPr id="6" name="Shape 4"/>
          <p:cNvSpPr/>
          <p:nvPr/>
        </p:nvSpPr>
        <p:spPr>
          <a:xfrm>
            <a:off x="1623060" y="3433572"/>
            <a:ext cx="3086100" cy="406908"/>
          </a:xfrm>
          <a:prstGeom prst="line">
            <a:avLst/>
          </a:prstGeom>
          <a:noFill/>
          <a:ln w="22225">
            <a:solidFill>
              <a:srgbClr val="AFC3CE"/>
            </a:solidFill>
            <a:prstDash val="solid"/>
          </a:ln>
        </p:spPr>
      </p:sp>
      <p:sp>
        <p:nvSpPr>
          <p:cNvPr id="7" name="Shape 5"/>
          <p:cNvSpPr/>
          <p:nvPr/>
        </p:nvSpPr>
        <p:spPr>
          <a:xfrm flipV="1">
            <a:off x="4709160" y="2948940"/>
            <a:ext cx="4046220" cy="891540"/>
          </a:xfrm>
          <a:prstGeom prst="line">
            <a:avLst/>
          </a:prstGeom>
          <a:noFill/>
          <a:ln w="22225">
            <a:solidFill>
              <a:srgbClr val="AFC3CE"/>
            </a:solidFill>
            <a:prstDash val="solid"/>
          </a:ln>
        </p:spPr>
      </p:sp>
      <p:sp>
        <p:nvSpPr>
          <p:cNvPr id="8" name="Shape 6"/>
          <p:cNvSpPr/>
          <p:nvPr/>
        </p:nvSpPr>
        <p:spPr>
          <a:xfrm flipV="1">
            <a:off x="1623060" y="3840480"/>
            <a:ext cx="3086100" cy="1362456"/>
          </a:xfrm>
          <a:prstGeom prst="line">
            <a:avLst/>
          </a:prstGeom>
          <a:noFill/>
          <a:ln w="22225">
            <a:solidFill>
              <a:srgbClr val="AFC3CE"/>
            </a:solidFill>
            <a:prstDash val="solid"/>
          </a:ln>
        </p:spPr>
      </p:sp>
      <p:sp>
        <p:nvSpPr>
          <p:cNvPr id="9" name="Shape 7"/>
          <p:cNvSpPr/>
          <p:nvPr/>
        </p:nvSpPr>
        <p:spPr>
          <a:xfrm flipV="1">
            <a:off x="4457700" y="3840480"/>
            <a:ext cx="251460" cy="1362456"/>
          </a:xfrm>
          <a:prstGeom prst="line">
            <a:avLst/>
          </a:prstGeom>
          <a:noFill/>
          <a:ln w="22225">
            <a:solidFill>
              <a:srgbClr val="AFC3CE"/>
            </a:solidFill>
            <a:prstDash val="solid"/>
          </a:ln>
        </p:spPr>
      </p:sp>
      <p:sp>
        <p:nvSpPr>
          <p:cNvPr id="10" name="Shape 8"/>
          <p:cNvSpPr/>
          <p:nvPr/>
        </p:nvSpPr>
        <p:spPr>
          <a:xfrm>
            <a:off x="3703320" y="3493008"/>
            <a:ext cx="2011680" cy="694944"/>
          </a:xfrm>
          <a:prstGeom prst="roundRect">
            <a:avLst>
              <a:gd name="adj" fmla="val 10526"/>
            </a:avLst>
          </a:prstGeom>
          <a:solidFill>
            <a:srgbClr val="21295C"/>
          </a:solidFill>
          <a:ln w="12700">
            <a:solidFill>
              <a:srgbClr val="DCE6EB"/>
            </a:solidFill>
            <a:prstDash val="solid"/>
          </a:ln>
          <a:effectLst>
            <a:outerShdw sx="100000" sy="100000" kx="0" ky="0" algn="bl" rotWithShape="0" blurRad="76200" dist="25400" dir="5400000">
              <a:srgbClr val="0B1B2B">
                <a:alpha val="18000"/>
              </a:srgbClr>
            </a:outerShdw>
          </a:effectLst>
        </p:spPr>
      </p:sp>
      <p:sp>
        <p:nvSpPr>
          <p:cNvPr id="11" name="Text 9"/>
          <p:cNvSpPr txBox="1"/>
          <p:nvPr/>
        </p:nvSpPr>
        <p:spPr>
          <a:xfrm>
            <a:off x="3703320" y="3493008"/>
            <a:ext cx="2011680" cy="694944"/>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STUDENT</a:t>
            </a:r>
            <a:endParaRPr lang="en-US" sz="1700" dirty="0"/>
          </a:p>
        </p:txBody>
      </p:sp>
      <p:sp>
        <p:nvSpPr>
          <p:cNvPr id="12" name="Shape 10"/>
          <p:cNvSpPr/>
          <p:nvPr/>
        </p:nvSpPr>
        <p:spPr>
          <a:xfrm>
            <a:off x="457200" y="1371600"/>
            <a:ext cx="1965960" cy="566928"/>
          </a:xfrm>
          <a:prstGeom prst="roundRect">
            <a:avLst>
              <a:gd name="adj" fmla="val 12903"/>
            </a:avLst>
          </a:prstGeom>
          <a:solidFill>
            <a:srgbClr val="FFFFFF"/>
          </a:solidFill>
          <a:ln w="17780">
            <a:solidFill>
              <a:srgbClr val="1C7293"/>
            </a:solidFill>
            <a:prstDash val="solid"/>
          </a:ln>
          <a:effectLst>
            <a:outerShdw sx="100000" sy="100000" kx="0" ky="0" algn="bl" rotWithShape="0" blurRad="76200" dist="25400" dir="5400000">
              <a:srgbClr val="0B1B2B">
                <a:alpha val="18000"/>
              </a:srgbClr>
            </a:outerShdw>
          </a:effectLst>
        </p:spPr>
      </p:sp>
      <p:sp>
        <p:nvSpPr>
          <p:cNvPr id="13" name="Shape 11"/>
          <p:cNvSpPr/>
          <p:nvPr/>
        </p:nvSpPr>
        <p:spPr>
          <a:xfrm>
            <a:off x="457200" y="1371600"/>
            <a:ext cx="82296" cy="566928"/>
          </a:xfrm>
          <a:prstGeom prst="rect">
            <a:avLst/>
          </a:prstGeom>
          <a:solidFill>
            <a:srgbClr val="1C7293"/>
          </a:solidFill>
          <a:ln/>
        </p:spPr>
      </p:sp>
      <p:sp>
        <p:nvSpPr>
          <p:cNvPr id="14" name="Text 12"/>
          <p:cNvSpPr txBox="1"/>
          <p:nvPr/>
        </p:nvSpPr>
        <p:spPr>
          <a:xfrm>
            <a:off x="685800" y="1426464"/>
            <a:ext cx="1600200" cy="283464"/>
          </a:xfrm>
          <a:prstGeom prst="rect">
            <a:avLst/>
          </a:prstGeom>
          <a:noFill/>
          <a:ln/>
        </p:spPr>
        <p:txBody>
          <a:bodyPr wrap="square" lIns="0" tIns="0" rIns="0" bIns="0" rtlCol="0" anchor="b"/>
          <a:lstStyle/>
          <a:p>
            <a:pPr indent="0" marL="0">
              <a:buNone/>
            </a:pPr>
            <a:r>
              <a:rPr lang="en-US" sz="1300" b="1" dirty="0">
                <a:solidFill>
                  <a:srgbClr val="21295C"/>
                </a:solidFill>
                <a:latin typeface="Calibri" pitchFamily="34" charset="0"/>
                <a:ea typeface="Calibri" pitchFamily="34" charset="-122"/>
                <a:cs typeface="Calibri" pitchFamily="34" charset="-120"/>
              </a:rPr>
              <a:t>Approved Email</a:t>
            </a:r>
            <a:endParaRPr lang="en-US" sz="1300" dirty="0"/>
          </a:p>
        </p:txBody>
      </p:sp>
      <p:sp>
        <p:nvSpPr>
          <p:cNvPr id="15" name="Text 13"/>
          <p:cNvSpPr txBox="1"/>
          <p:nvPr/>
        </p:nvSpPr>
        <p:spPr>
          <a:xfrm>
            <a:off x="685800" y="1666403"/>
            <a:ext cx="1600200" cy="260787"/>
          </a:xfrm>
          <a:prstGeom prst="rect">
            <a:avLst/>
          </a:prstGeom>
          <a:noFill/>
          <a:ln/>
        </p:spPr>
        <p:txBody>
          <a:bodyPr wrap="square" lIns="0" tIns="0" rIns="0" bIns="0" rtlCol="0" anchor="t"/>
          <a:lstStyle/>
          <a:p>
            <a:pPr indent="0" marL="0">
              <a:lnSpc>
                <a:spcPct val="105000"/>
              </a:lnSpc>
              <a:buNone/>
            </a:pPr>
            <a:r>
              <a:rPr lang="en-US" sz="1050" dirty="0">
                <a:solidFill>
                  <a:srgbClr val="5B6B79"/>
                </a:solidFill>
                <a:latin typeface="Calibri" pitchFamily="34" charset="0"/>
                <a:ea typeface="Calibri" pitchFamily="34" charset="-122"/>
                <a:cs typeface="Calibri" pitchFamily="34" charset="-120"/>
              </a:rPr>
              <a:t>sign-in allow-list</a:t>
            </a:r>
            <a:endParaRPr lang="en-US" sz="1050" dirty="0"/>
          </a:p>
        </p:txBody>
      </p:sp>
      <p:sp>
        <p:nvSpPr>
          <p:cNvPr id="16" name="Shape 14"/>
          <p:cNvSpPr/>
          <p:nvPr/>
        </p:nvSpPr>
        <p:spPr>
          <a:xfrm>
            <a:off x="2788920" y="1371600"/>
            <a:ext cx="4206240" cy="566928"/>
          </a:xfrm>
          <a:prstGeom prst="roundRect">
            <a:avLst>
              <a:gd name="adj" fmla="val 12903"/>
            </a:avLst>
          </a:prstGeom>
          <a:solidFill>
            <a:srgbClr val="FFFFFF"/>
          </a:solidFill>
          <a:ln w="17780">
            <a:solidFill>
              <a:srgbClr val="065A82"/>
            </a:solidFill>
            <a:prstDash val="solid"/>
          </a:ln>
          <a:effectLst>
            <a:outerShdw sx="100000" sy="100000" kx="0" ky="0" algn="bl" rotWithShape="0" blurRad="76200" dist="25400" dir="5400000">
              <a:srgbClr val="0B1B2B">
                <a:alpha val="18000"/>
              </a:srgbClr>
            </a:outerShdw>
          </a:effectLst>
        </p:spPr>
      </p:sp>
      <p:sp>
        <p:nvSpPr>
          <p:cNvPr id="17" name="Shape 15"/>
          <p:cNvSpPr/>
          <p:nvPr/>
        </p:nvSpPr>
        <p:spPr>
          <a:xfrm>
            <a:off x="2788920" y="1371600"/>
            <a:ext cx="82296" cy="566928"/>
          </a:xfrm>
          <a:prstGeom prst="rect">
            <a:avLst/>
          </a:prstGeom>
          <a:solidFill>
            <a:srgbClr val="065A82"/>
          </a:solidFill>
          <a:ln/>
        </p:spPr>
      </p:sp>
      <p:sp>
        <p:nvSpPr>
          <p:cNvPr id="18" name="Text 16"/>
          <p:cNvSpPr txBox="1"/>
          <p:nvPr/>
        </p:nvSpPr>
        <p:spPr>
          <a:xfrm>
            <a:off x="3017520" y="1426464"/>
            <a:ext cx="3840480" cy="283464"/>
          </a:xfrm>
          <a:prstGeom prst="rect">
            <a:avLst/>
          </a:prstGeom>
          <a:noFill/>
          <a:ln/>
        </p:spPr>
        <p:txBody>
          <a:bodyPr wrap="square" lIns="0" tIns="0" rIns="0" bIns="0" rtlCol="0" anchor="b"/>
          <a:lstStyle/>
          <a:p>
            <a:pPr indent="0" marL="0">
              <a:buNone/>
            </a:pPr>
            <a:r>
              <a:rPr lang="en-US" sz="1350" b="1" dirty="0">
                <a:solidFill>
                  <a:srgbClr val="21295C"/>
                </a:solidFill>
                <a:latin typeface="Calibri" pitchFamily="34" charset="0"/>
                <a:ea typeface="Calibri" pitchFamily="34" charset="-122"/>
                <a:cs typeface="Calibri" pitchFamily="34" charset="-120"/>
              </a:rPr>
              <a:t>Program → Module → Unit → Content Block</a:t>
            </a:r>
            <a:endParaRPr lang="en-US" sz="1350" dirty="0"/>
          </a:p>
        </p:txBody>
      </p:sp>
      <p:sp>
        <p:nvSpPr>
          <p:cNvPr id="19" name="Text 17"/>
          <p:cNvSpPr txBox="1"/>
          <p:nvPr/>
        </p:nvSpPr>
        <p:spPr>
          <a:xfrm>
            <a:off x="3017520" y="1666403"/>
            <a:ext cx="3840480" cy="260787"/>
          </a:xfrm>
          <a:prstGeom prst="rect">
            <a:avLst/>
          </a:prstGeom>
          <a:noFill/>
          <a:ln/>
        </p:spPr>
        <p:txBody>
          <a:bodyPr wrap="square" lIns="0" tIns="0" rIns="0" bIns="0" rtlCol="0" anchor="t"/>
          <a:lstStyle/>
          <a:p>
            <a:pPr indent="0" marL="0">
              <a:lnSpc>
                <a:spcPct val="105000"/>
              </a:lnSpc>
              <a:buNone/>
            </a:pPr>
            <a:r>
              <a:rPr lang="en-US" sz="1050" dirty="0">
                <a:solidFill>
                  <a:srgbClr val="5B6B79"/>
                </a:solidFill>
                <a:latin typeface="Calibri" pitchFamily="34" charset="0"/>
                <a:ea typeface="Calibri" pitchFamily="34" charset="-122"/>
                <a:cs typeface="Calibri" pitchFamily="34" charset="-120"/>
              </a:rPr>
              <a:t>+ Knowledge Checks per unit</a:t>
            </a:r>
            <a:endParaRPr lang="en-US" sz="1050" dirty="0"/>
          </a:p>
        </p:txBody>
      </p:sp>
      <p:sp>
        <p:nvSpPr>
          <p:cNvPr id="20" name="Shape 18"/>
          <p:cNvSpPr/>
          <p:nvPr/>
        </p:nvSpPr>
        <p:spPr>
          <a:xfrm>
            <a:off x="457200" y="2999232"/>
            <a:ext cx="2331720" cy="868680"/>
          </a:xfrm>
          <a:prstGeom prst="roundRect">
            <a:avLst>
              <a:gd name="adj" fmla="val 8421"/>
            </a:avLst>
          </a:prstGeom>
          <a:solidFill>
            <a:srgbClr val="FFFFFF"/>
          </a:solidFill>
          <a:ln w="17780">
            <a:solidFill>
              <a:srgbClr val="065A82"/>
            </a:solidFill>
            <a:prstDash val="solid"/>
          </a:ln>
          <a:effectLst>
            <a:outerShdw sx="100000" sy="100000" kx="0" ky="0" algn="bl" rotWithShape="0" blurRad="76200" dist="25400" dir="5400000">
              <a:srgbClr val="0B1B2B">
                <a:alpha val="18000"/>
              </a:srgbClr>
            </a:outerShdw>
          </a:effectLst>
        </p:spPr>
      </p:sp>
      <p:sp>
        <p:nvSpPr>
          <p:cNvPr id="21" name="Shape 19"/>
          <p:cNvSpPr/>
          <p:nvPr/>
        </p:nvSpPr>
        <p:spPr>
          <a:xfrm>
            <a:off x="457200" y="2999232"/>
            <a:ext cx="82296" cy="868680"/>
          </a:xfrm>
          <a:prstGeom prst="rect">
            <a:avLst/>
          </a:prstGeom>
          <a:solidFill>
            <a:srgbClr val="065A82"/>
          </a:solidFill>
          <a:ln/>
        </p:spPr>
      </p:sp>
      <p:sp>
        <p:nvSpPr>
          <p:cNvPr id="22" name="Text 20"/>
          <p:cNvSpPr txBox="1"/>
          <p:nvPr/>
        </p:nvSpPr>
        <p:spPr>
          <a:xfrm>
            <a:off x="685800" y="3054096"/>
            <a:ext cx="1965960" cy="434340"/>
          </a:xfrm>
          <a:prstGeom prst="rect">
            <a:avLst/>
          </a:prstGeom>
          <a:noFill/>
          <a:ln/>
        </p:spPr>
        <p:txBody>
          <a:bodyPr wrap="square" lIns="0" tIns="0" rIns="0" bIns="0" rtlCol="0" anchor="b"/>
          <a:lstStyle/>
          <a:p>
            <a:pPr indent="0" marL="0">
              <a:buNone/>
            </a:pPr>
            <a:r>
              <a:rPr lang="en-US" sz="1300" b="1" dirty="0">
                <a:solidFill>
                  <a:srgbClr val="21295C"/>
                </a:solidFill>
                <a:latin typeface="Calibri" pitchFamily="34" charset="0"/>
                <a:ea typeface="Calibri" pitchFamily="34" charset="-122"/>
                <a:cs typeface="Calibri" pitchFamily="34" charset="-120"/>
              </a:rPr>
              <a:t>Progress &amp; Tokens</a:t>
            </a:r>
            <a:endParaRPr lang="en-US" sz="1300" dirty="0"/>
          </a:p>
        </p:txBody>
      </p:sp>
      <p:sp>
        <p:nvSpPr>
          <p:cNvPr id="23" name="Text 21"/>
          <p:cNvSpPr txBox="1"/>
          <p:nvPr/>
        </p:nvSpPr>
        <p:spPr>
          <a:xfrm>
            <a:off x="685800" y="3450946"/>
            <a:ext cx="1965960" cy="399593"/>
          </a:xfrm>
          <a:prstGeom prst="rect">
            <a:avLst/>
          </a:prstGeom>
          <a:noFill/>
          <a:ln/>
        </p:spPr>
        <p:txBody>
          <a:bodyPr wrap="square" lIns="0" tIns="0" rIns="0" bIns="0" rtlCol="0" anchor="t"/>
          <a:lstStyle/>
          <a:p>
            <a:pPr indent="0" marL="0">
              <a:lnSpc>
                <a:spcPct val="105000"/>
              </a:lnSpc>
              <a:buNone/>
            </a:pPr>
            <a:r>
              <a:rPr lang="en-US" sz="1050" dirty="0">
                <a:solidFill>
                  <a:srgbClr val="5B6B79"/>
                </a:solidFill>
                <a:latin typeface="Calibri" pitchFamily="34" charset="0"/>
                <a:ea typeface="Calibri" pitchFamily="34" charset="-122"/>
                <a:cs typeface="Calibri" pitchFamily="34" charset="-120"/>
              </a:rPr>
              <a:t>Enrollment · Unit status · Token ledger · Goals · Notes</a:t>
            </a:r>
            <a:endParaRPr lang="en-US" sz="1050" dirty="0"/>
          </a:p>
        </p:txBody>
      </p:sp>
      <p:sp>
        <p:nvSpPr>
          <p:cNvPr id="24" name="Shape 22"/>
          <p:cNvSpPr/>
          <p:nvPr/>
        </p:nvSpPr>
        <p:spPr>
          <a:xfrm>
            <a:off x="7360920" y="2331720"/>
            <a:ext cx="2788920" cy="1234440"/>
          </a:xfrm>
          <a:prstGeom prst="roundRect">
            <a:avLst>
              <a:gd name="adj" fmla="val 5926"/>
            </a:avLst>
          </a:prstGeom>
          <a:solidFill>
            <a:srgbClr val="FFFFFF"/>
          </a:solidFill>
          <a:ln w="17780">
            <a:solidFill>
              <a:srgbClr val="5FB4A2"/>
            </a:solidFill>
            <a:prstDash val="solid"/>
          </a:ln>
          <a:effectLst>
            <a:outerShdw sx="100000" sy="100000" kx="0" ky="0" algn="bl" rotWithShape="0" blurRad="76200" dist="25400" dir="5400000">
              <a:srgbClr val="0B1B2B">
                <a:alpha val="18000"/>
              </a:srgbClr>
            </a:outerShdw>
          </a:effectLst>
        </p:spPr>
      </p:sp>
      <p:sp>
        <p:nvSpPr>
          <p:cNvPr id="25" name="Shape 23"/>
          <p:cNvSpPr/>
          <p:nvPr/>
        </p:nvSpPr>
        <p:spPr>
          <a:xfrm>
            <a:off x="7360920" y="2331720"/>
            <a:ext cx="82296" cy="1234440"/>
          </a:xfrm>
          <a:prstGeom prst="rect">
            <a:avLst/>
          </a:prstGeom>
          <a:solidFill>
            <a:srgbClr val="5FB4A2"/>
          </a:solidFill>
          <a:ln/>
        </p:spPr>
      </p:sp>
      <p:sp>
        <p:nvSpPr>
          <p:cNvPr id="26" name="Text 24"/>
          <p:cNvSpPr txBox="1"/>
          <p:nvPr/>
        </p:nvSpPr>
        <p:spPr>
          <a:xfrm>
            <a:off x="7589520" y="2386584"/>
            <a:ext cx="2423160" cy="617220"/>
          </a:xfrm>
          <a:prstGeom prst="rect">
            <a:avLst/>
          </a:prstGeom>
          <a:noFill/>
          <a:ln/>
        </p:spPr>
        <p:txBody>
          <a:bodyPr wrap="square" lIns="0" tIns="0" rIns="0" bIns="0" rtlCol="0" anchor="b"/>
          <a:lstStyle/>
          <a:p>
            <a:pPr indent="0" marL="0">
              <a:buNone/>
            </a:pPr>
            <a:r>
              <a:rPr lang="en-US" sz="1300" b="1" dirty="0">
                <a:solidFill>
                  <a:srgbClr val="21295C"/>
                </a:solidFill>
                <a:latin typeface="Calibri" pitchFamily="34" charset="0"/>
                <a:ea typeface="Calibri" pitchFamily="34" charset="-122"/>
                <a:cs typeface="Calibri" pitchFamily="34" charset="-120"/>
              </a:rPr>
              <a:t>Assessment Engine</a:t>
            </a:r>
            <a:endParaRPr lang="en-US" sz="1300" dirty="0"/>
          </a:p>
        </p:txBody>
      </p:sp>
      <p:sp>
        <p:nvSpPr>
          <p:cNvPr id="27" name="Text 25"/>
          <p:cNvSpPr txBox="1"/>
          <p:nvPr/>
        </p:nvSpPr>
        <p:spPr>
          <a:xfrm>
            <a:off x="7589520" y="2973629"/>
            <a:ext cx="2423160" cy="567842"/>
          </a:xfrm>
          <a:prstGeom prst="rect">
            <a:avLst/>
          </a:prstGeom>
          <a:noFill/>
          <a:ln/>
        </p:spPr>
        <p:txBody>
          <a:bodyPr wrap="square" lIns="0" tIns="0" rIns="0" bIns="0" rtlCol="0" anchor="t"/>
          <a:lstStyle/>
          <a:p>
            <a:pPr indent="0" marL="0">
              <a:lnSpc>
                <a:spcPct val="105000"/>
              </a:lnSpc>
              <a:buNone/>
            </a:pPr>
            <a:r>
              <a:rPr lang="en-US" sz="1050" dirty="0">
                <a:solidFill>
                  <a:srgbClr val="5B6B79"/>
                </a:solidFill>
                <a:latin typeface="Calibri" pitchFamily="34" charset="0"/>
                <a:ea typeface="Calibri" pitchFamily="34" charset="-122"/>
                <a:cs typeface="Calibri" pitchFamily="34" charset="-120"/>
              </a:rPr>
              <a:t>Standalone Assessment → Question Bank → Attempts → Answers, plus auto-Escalations</a:t>
            </a:r>
            <a:endParaRPr lang="en-US" sz="1050" dirty="0"/>
          </a:p>
        </p:txBody>
      </p:sp>
      <p:sp>
        <p:nvSpPr>
          <p:cNvPr id="28" name="Shape 26"/>
          <p:cNvSpPr/>
          <p:nvPr/>
        </p:nvSpPr>
        <p:spPr>
          <a:xfrm>
            <a:off x="457200" y="4892040"/>
            <a:ext cx="2331720" cy="621792"/>
          </a:xfrm>
          <a:prstGeom prst="roundRect">
            <a:avLst>
              <a:gd name="adj" fmla="val 11765"/>
            </a:avLst>
          </a:prstGeom>
          <a:solidFill>
            <a:srgbClr val="FFFFFF"/>
          </a:solidFill>
          <a:ln w="17780">
            <a:solidFill>
              <a:srgbClr val="1C7293"/>
            </a:solidFill>
            <a:prstDash val="solid"/>
          </a:ln>
          <a:effectLst>
            <a:outerShdw sx="100000" sy="100000" kx="0" ky="0" algn="bl" rotWithShape="0" blurRad="76200" dist="25400" dir="5400000">
              <a:srgbClr val="0B1B2B">
                <a:alpha val="18000"/>
              </a:srgbClr>
            </a:outerShdw>
          </a:effectLst>
        </p:spPr>
      </p:sp>
      <p:sp>
        <p:nvSpPr>
          <p:cNvPr id="29" name="Shape 27"/>
          <p:cNvSpPr/>
          <p:nvPr/>
        </p:nvSpPr>
        <p:spPr>
          <a:xfrm>
            <a:off x="457200" y="4892040"/>
            <a:ext cx="82296" cy="621792"/>
          </a:xfrm>
          <a:prstGeom prst="rect">
            <a:avLst/>
          </a:prstGeom>
          <a:solidFill>
            <a:srgbClr val="1C7293"/>
          </a:solidFill>
          <a:ln/>
        </p:spPr>
      </p:sp>
      <p:sp>
        <p:nvSpPr>
          <p:cNvPr id="30" name="Text 28"/>
          <p:cNvSpPr txBox="1"/>
          <p:nvPr/>
        </p:nvSpPr>
        <p:spPr>
          <a:xfrm>
            <a:off x="685800" y="4946904"/>
            <a:ext cx="1965960" cy="310896"/>
          </a:xfrm>
          <a:prstGeom prst="rect">
            <a:avLst/>
          </a:prstGeom>
          <a:noFill/>
          <a:ln/>
        </p:spPr>
        <p:txBody>
          <a:bodyPr wrap="square" lIns="0" tIns="0" rIns="0" bIns="0" rtlCol="0" anchor="b"/>
          <a:lstStyle/>
          <a:p>
            <a:pPr indent="0" marL="0">
              <a:buNone/>
            </a:pPr>
            <a:r>
              <a:rPr lang="en-US" sz="1300" b="1" dirty="0">
                <a:solidFill>
                  <a:srgbClr val="21295C"/>
                </a:solidFill>
                <a:latin typeface="Calibri" pitchFamily="34" charset="0"/>
                <a:ea typeface="Calibri" pitchFamily="34" charset="-122"/>
                <a:cs typeface="Calibri" pitchFamily="34" charset="-120"/>
              </a:rPr>
              <a:t>Hub Extras</a:t>
            </a:r>
            <a:endParaRPr lang="en-US" sz="1300" dirty="0"/>
          </a:p>
        </p:txBody>
      </p:sp>
      <p:sp>
        <p:nvSpPr>
          <p:cNvPr id="31" name="Text 29"/>
          <p:cNvSpPr txBox="1"/>
          <p:nvPr/>
        </p:nvSpPr>
        <p:spPr>
          <a:xfrm>
            <a:off x="685800" y="5215372"/>
            <a:ext cx="1965960" cy="286024"/>
          </a:xfrm>
          <a:prstGeom prst="rect">
            <a:avLst/>
          </a:prstGeom>
          <a:noFill/>
          <a:ln/>
        </p:spPr>
        <p:txBody>
          <a:bodyPr wrap="square" lIns="0" tIns="0" rIns="0" bIns="0" rtlCol="0" anchor="t"/>
          <a:lstStyle/>
          <a:p>
            <a:pPr indent="0" marL="0">
              <a:lnSpc>
                <a:spcPct val="105000"/>
              </a:lnSpc>
              <a:buNone/>
            </a:pPr>
            <a:r>
              <a:rPr lang="en-US" sz="1050" dirty="0">
                <a:solidFill>
                  <a:srgbClr val="5B6B79"/>
                </a:solidFill>
                <a:latin typeface="Calibri" pitchFamily="34" charset="0"/>
                <a:ea typeface="Calibri" pitchFamily="34" charset="-122"/>
                <a:cs typeface="Calibri" pitchFamily="34" charset="-120"/>
              </a:rPr>
              <a:t>Todos · Events · Mock catalog</a:t>
            </a:r>
            <a:endParaRPr lang="en-US" sz="1050" dirty="0"/>
          </a:p>
        </p:txBody>
      </p:sp>
      <p:sp>
        <p:nvSpPr>
          <p:cNvPr id="32" name="Shape 30"/>
          <p:cNvSpPr/>
          <p:nvPr/>
        </p:nvSpPr>
        <p:spPr>
          <a:xfrm>
            <a:off x="3063240" y="4892040"/>
            <a:ext cx="2788920" cy="621792"/>
          </a:xfrm>
          <a:prstGeom prst="roundRect">
            <a:avLst>
              <a:gd name="adj" fmla="val 11765"/>
            </a:avLst>
          </a:prstGeom>
          <a:solidFill>
            <a:srgbClr val="FFFFFF"/>
          </a:solidFill>
          <a:ln w="17780">
            <a:solidFill>
              <a:srgbClr val="1C7293"/>
            </a:solidFill>
            <a:prstDash val="solid"/>
          </a:ln>
          <a:effectLst>
            <a:outerShdw sx="100000" sy="100000" kx="0" ky="0" algn="bl" rotWithShape="0" blurRad="76200" dist="25400" dir="5400000">
              <a:srgbClr val="0B1B2B">
                <a:alpha val="18000"/>
              </a:srgbClr>
            </a:outerShdw>
          </a:effectLst>
        </p:spPr>
      </p:sp>
      <p:sp>
        <p:nvSpPr>
          <p:cNvPr id="33" name="Shape 31"/>
          <p:cNvSpPr/>
          <p:nvPr/>
        </p:nvSpPr>
        <p:spPr>
          <a:xfrm>
            <a:off x="3063240" y="4892040"/>
            <a:ext cx="82296" cy="621792"/>
          </a:xfrm>
          <a:prstGeom prst="rect">
            <a:avLst/>
          </a:prstGeom>
          <a:solidFill>
            <a:srgbClr val="1C7293"/>
          </a:solidFill>
          <a:ln/>
        </p:spPr>
      </p:sp>
      <p:sp>
        <p:nvSpPr>
          <p:cNvPr id="34" name="Text 32"/>
          <p:cNvSpPr txBox="1"/>
          <p:nvPr/>
        </p:nvSpPr>
        <p:spPr>
          <a:xfrm>
            <a:off x="3291840" y="4946904"/>
            <a:ext cx="2423160" cy="310896"/>
          </a:xfrm>
          <a:prstGeom prst="rect">
            <a:avLst/>
          </a:prstGeom>
          <a:noFill/>
          <a:ln/>
        </p:spPr>
        <p:txBody>
          <a:bodyPr wrap="square" lIns="0" tIns="0" rIns="0" bIns="0" rtlCol="0" anchor="b"/>
          <a:lstStyle/>
          <a:p>
            <a:pPr indent="0" marL="0">
              <a:buNone/>
            </a:pPr>
            <a:r>
              <a:rPr lang="en-US" sz="1300" b="1" dirty="0">
                <a:solidFill>
                  <a:srgbClr val="21295C"/>
                </a:solidFill>
                <a:latin typeface="Calibri" pitchFamily="34" charset="0"/>
                <a:ea typeface="Calibri" pitchFamily="34" charset="-122"/>
                <a:cs typeface="Calibri" pitchFamily="34" charset="-120"/>
              </a:rPr>
              <a:t>Support &amp; Audit</a:t>
            </a:r>
            <a:endParaRPr lang="en-US" sz="1300" dirty="0"/>
          </a:p>
        </p:txBody>
      </p:sp>
      <p:sp>
        <p:nvSpPr>
          <p:cNvPr id="35" name="Text 33"/>
          <p:cNvSpPr txBox="1"/>
          <p:nvPr/>
        </p:nvSpPr>
        <p:spPr>
          <a:xfrm>
            <a:off x="3291840" y="5215372"/>
            <a:ext cx="2423160" cy="286024"/>
          </a:xfrm>
          <a:prstGeom prst="rect">
            <a:avLst/>
          </a:prstGeom>
          <a:noFill/>
          <a:ln/>
        </p:spPr>
        <p:txBody>
          <a:bodyPr wrap="square" lIns="0" tIns="0" rIns="0" bIns="0" rtlCol="0" anchor="t"/>
          <a:lstStyle/>
          <a:p>
            <a:pPr indent="0" marL="0">
              <a:lnSpc>
                <a:spcPct val="105000"/>
              </a:lnSpc>
              <a:buNone/>
            </a:pPr>
            <a:r>
              <a:rPr lang="en-US" sz="1050" dirty="0">
                <a:solidFill>
                  <a:srgbClr val="5B6B79"/>
                </a:solidFill>
                <a:latin typeface="Calibri" pitchFamily="34" charset="0"/>
                <a:ea typeface="Calibri" pitchFamily="34" charset="-122"/>
                <a:cs typeface="Calibri" pitchFamily="34" charset="-120"/>
              </a:rPr>
              <a:t>Tickets · Security log</a:t>
            </a:r>
            <a:endParaRPr lang="en-US" sz="1050" dirty="0"/>
          </a:p>
        </p:txBody>
      </p:sp>
      <p:sp>
        <p:nvSpPr>
          <p:cNvPr id="36" name="Shape 34"/>
          <p:cNvSpPr/>
          <p:nvPr/>
        </p:nvSpPr>
        <p:spPr>
          <a:xfrm>
            <a:off x="9646920" y="1371600"/>
            <a:ext cx="2148840" cy="5074920"/>
          </a:xfrm>
          <a:prstGeom prst="roundRect">
            <a:avLst>
              <a:gd name="adj" fmla="val 3404"/>
            </a:avLst>
          </a:prstGeom>
          <a:solidFill>
            <a:srgbClr val="21295C"/>
          </a:solidFill>
          <a:ln w="12700">
            <a:solidFill>
              <a:srgbClr val="DCE6EB"/>
            </a:solidFill>
            <a:prstDash val="solid"/>
          </a:ln>
          <a:effectLst>
            <a:outerShdw sx="100000" sy="100000" kx="0" ky="0" algn="bl" rotWithShape="0" blurRad="76200" dist="25400" dir="5400000">
              <a:srgbClr val="0B1B2B">
                <a:alpha val="18000"/>
              </a:srgbClr>
            </a:outerShdw>
          </a:effectLst>
        </p:spPr>
      </p:sp>
      <p:sp>
        <p:nvSpPr>
          <p:cNvPr id="37" name="Text 35"/>
          <p:cNvSpPr txBox="1"/>
          <p:nvPr/>
        </p:nvSpPr>
        <p:spPr>
          <a:xfrm>
            <a:off x="9921240" y="1572768"/>
            <a:ext cx="1645920" cy="274320"/>
          </a:xfrm>
          <a:prstGeom prst="rect">
            <a:avLst/>
          </a:prstGeom>
          <a:noFill/>
          <a:ln/>
        </p:spPr>
        <p:txBody>
          <a:bodyPr wrap="square" lIns="0" tIns="0" rIns="0" bIns="0" rtlCol="0" anchor="ctr"/>
          <a:lstStyle/>
          <a:p>
            <a:pPr indent="0" marL="0">
              <a:buNone/>
            </a:pPr>
            <a:r>
              <a:rPr lang="en-US" sz="1050" b="1" spc="150" kern="0" dirty="0">
                <a:solidFill>
                  <a:srgbClr val="9FD3E8"/>
                </a:solidFill>
                <a:latin typeface="Calibri" pitchFamily="34" charset="0"/>
                <a:ea typeface="Calibri" pitchFamily="34" charset="-122"/>
                <a:cs typeface="Calibri" pitchFamily="34" charset="-120"/>
              </a:rPr>
              <a:t>READING THE MAP</a:t>
            </a:r>
            <a:endParaRPr lang="en-US" sz="1050" dirty="0"/>
          </a:p>
        </p:txBody>
      </p:sp>
      <p:sp>
        <p:nvSpPr>
          <p:cNvPr id="38" name="Text 36"/>
          <p:cNvSpPr txBox="1"/>
          <p:nvPr/>
        </p:nvSpPr>
        <p:spPr>
          <a:xfrm>
            <a:off x="9921240" y="1965960"/>
            <a:ext cx="1645920" cy="4297680"/>
          </a:xfrm>
          <a:prstGeom prst="rect">
            <a:avLst/>
          </a:prstGeom>
          <a:noFill/>
          <a:ln/>
        </p:spPr>
        <p:txBody>
          <a:bodyPr wrap="square" lIns="0" tIns="0" rIns="0" bIns="0" rtlCol="0" anchor="ctr"/>
          <a:lstStyle/>
          <a:p>
            <a:pPr marL="342900" indent="-342900">
              <a:lnSpc>
                <a:spcPct val="125000"/>
              </a:lnSpc>
              <a:spcAft>
                <a:spcPts val="1400"/>
              </a:spcAft>
              <a:buSzPct val="100000"/>
              <a:buChar char="●"/>
            </a:pPr>
            <a:r>
              <a:rPr lang="en-US" sz="1200" dirty="0">
                <a:solidFill>
                  <a:srgbClr val="FFFFFF"/>
                </a:solidFill>
                <a:latin typeface="Calibri" pitchFamily="34" charset="0"/>
                <a:ea typeface="Calibri" pitchFamily="34" charset="-122"/>
                <a:cs typeface="Calibri" pitchFamily="34" charset="-120"/>
              </a:rPr>
              <a:t>Student is the hub — almost every table ultimately points back to a student.</a:t>
            </a:r>
            <a:endParaRPr lang="en-US" sz="1200" dirty="0"/>
          </a:p>
          <a:p>
            <a:pPr marL="342900" indent="-342900">
              <a:lnSpc>
                <a:spcPct val="125000"/>
              </a:lnSpc>
              <a:spcAft>
                <a:spcPts val="1400"/>
              </a:spcAft>
              <a:buSzPct val="100000"/>
              <a:buChar char="●"/>
            </a:pPr>
            <a:r>
              <a:rPr lang="en-US" sz="1200" dirty="0">
                <a:solidFill>
                  <a:srgbClr val="FFFFFF"/>
                </a:solidFill>
                <a:latin typeface="Calibri" pitchFamily="34" charset="0"/>
                <a:ea typeface="Calibri" pitchFamily="34" charset="-122"/>
                <a:cs typeface="Calibri" pitchFamily="34" charset="-120"/>
              </a:rPr>
              <a:t>Course content is a strict 3-level chain, not a branching tree.</a:t>
            </a:r>
            <a:endParaRPr lang="en-US" sz="1200" dirty="0"/>
          </a:p>
          <a:p>
            <a:pPr marL="342900" indent="-342900">
              <a:lnSpc>
                <a:spcPct val="125000"/>
              </a:lnSpc>
              <a:spcAft>
                <a:spcPts val="1400"/>
              </a:spcAft>
              <a:buSzPct val="100000"/>
              <a:buChar char="●"/>
            </a:pPr>
            <a:r>
              <a:rPr lang="en-US" sz="1200" dirty="0">
                <a:solidFill>
                  <a:srgbClr val="FFFFFF"/>
                </a:solidFill>
                <a:latin typeface="Calibri" pitchFamily="34" charset="0"/>
                <a:ea typeface="Calibri" pitchFamily="34" charset="-122"/>
                <a:cs typeface="Calibri" pitchFamily="34" charset="-120"/>
              </a:rPr>
              <a:t>The assessment engine is the most connected corner of the schema.</a:t>
            </a:r>
            <a:endParaRPr lang="en-US" sz="1200" dirty="0"/>
          </a:p>
        </p:txBody>
      </p:sp>
      <p:sp>
        <p:nvSpPr>
          <p:cNvPr id="39" name="Text 37"/>
          <p:cNvSpPr txBox="1"/>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How the Platform's Database Is Designed</a:t>
            </a:r>
            <a:endParaRPr lang="en-US" sz="1000" dirty="0"/>
          </a:p>
        </p:txBody>
      </p:sp>
      <p:sp>
        <p:nvSpPr>
          <p:cNvPr id="40" name="Text 38"/>
          <p:cNvSpPr txBox="1"/>
          <p:nvPr/>
        </p:nvSpPr>
        <p:spPr>
          <a:xfrm>
            <a:off x="11338560" y="6528816"/>
            <a:ext cx="45720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05156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SHARING WITHOUT CONFLICT</a:t>
            </a:r>
            <a:endParaRPr lang="en-US" sz="1300" dirty="0"/>
          </a:p>
        </p:txBody>
      </p:sp>
      <p:sp>
        <p:nvSpPr>
          <p:cNvPr id="3" name="Text 1"/>
          <p:cNvSpPr txBox="1"/>
          <p:nvPr/>
        </p:nvSpPr>
        <p:spPr>
          <a:xfrm>
            <a:off x="457200" y="621792"/>
            <a:ext cx="1124712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Who's Allowed to Write What</a:t>
            </a:r>
            <a:endParaRPr lang="en-US" sz="3000" dirty="0"/>
          </a:p>
        </p:txBody>
      </p:sp>
      <p:sp>
        <p:nvSpPr>
          <p:cNvPr id="4" name="Shape 2"/>
          <p:cNvSpPr/>
          <p:nvPr/>
        </p:nvSpPr>
        <p:spPr>
          <a:xfrm>
            <a:off x="548640" y="1600200"/>
            <a:ext cx="10881360" cy="1417320"/>
          </a:xfrm>
          <a:prstGeom prst="roundRect">
            <a:avLst>
              <a:gd name="adj" fmla="val 5161"/>
            </a:avLst>
          </a:prstGeom>
          <a:solidFill>
            <a:srgbClr val="F1F5F8"/>
          </a:solidFill>
          <a:ln w="12700">
            <a:solidFill>
              <a:srgbClr val="DCE6EB"/>
            </a:solidFill>
            <a:prstDash val="solid"/>
          </a:ln>
          <a:effectLst>
            <a:outerShdw sx="100000" sy="100000" kx="0" ky="0" algn="bl" rotWithShape="0" blurRad="76200" dist="25400" dir="5400000">
              <a:srgbClr val="0B1B2B">
                <a:alpha val="18000"/>
              </a:srgbClr>
            </a:outerShdw>
          </a:effectLst>
        </p:spPr>
      </p:sp>
      <p:sp>
        <p:nvSpPr>
          <p:cNvPr id="5" name="Shape 3"/>
          <p:cNvSpPr/>
          <p:nvPr/>
        </p:nvSpPr>
        <p:spPr>
          <a:xfrm>
            <a:off x="868680" y="1988820"/>
            <a:ext cx="640080" cy="640080"/>
          </a:xfrm>
          <a:prstGeom prst="ellipse">
            <a:avLst/>
          </a:prstGeom>
          <a:solidFill>
            <a:srgbClr val="1C7293"/>
          </a:solidFill>
          <a:ln/>
        </p:spPr>
      </p:sp>
      <p:pic>
        <p:nvPicPr>
          <p:cNvPr id="6" name="Image 0" descr="C:\Users\USER\AppData\Local\Temp\claude\C--Users-biche-cloud-heroes-africa-platform\c742e88a-fbba-45b1-8382-f8dad19948a7\scratchpad\pptx-build\icons\lock_FFFFFF.png">    </p:cNvPr>
          <p:cNvPicPr>
            <a:picLocks noChangeAspect="1"/>
          </p:cNvPicPr>
          <p:nvPr/>
        </p:nvPicPr>
        <p:blipFill>
          <a:blip r:embed="rId1"/>
          <a:stretch>
            <a:fillRect/>
          </a:stretch>
        </p:blipFill>
        <p:spPr>
          <a:xfrm>
            <a:off x="1042416" y="2162556"/>
            <a:ext cx="292608" cy="292608"/>
          </a:xfrm>
          <a:prstGeom prst="rect">
            <a:avLst/>
          </a:prstGeom>
        </p:spPr>
      </p:pic>
      <p:sp>
        <p:nvSpPr>
          <p:cNvPr id="7" name="Text 4"/>
          <p:cNvSpPr txBox="1"/>
          <p:nvPr/>
        </p:nvSpPr>
        <p:spPr>
          <a:xfrm>
            <a:off x="1874520" y="1783080"/>
            <a:ext cx="2743200" cy="1051560"/>
          </a:xfrm>
          <a:prstGeom prst="rect">
            <a:avLst/>
          </a:prstGeom>
          <a:noFill/>
          <a:ln/>
        </p:spPr>
        <p:txBody>
          <a:bodyPr wrap="square" lIns="0" tIns="0" rIns="0" bIns="0" rtlCol="0" anchor="ctr"/>
          <a:lstStyle/>
          <a:p>
            <a:pPr indent="0" marL="0">
              <a:lnSpc>
                <a:spcPct val="110000"/>
              </a:lnSpc>
              <a:buNone/>
            </a:pPr>
            <a:r>
              <a:rPr lang="en-US" sz="1650" b="1" dirty="0">
                <a:solidFill>
                  <a:srgbClr val="21295C"/>
                </a:solidFill>
                <a:latin typeface="Cambria" pitchFamily="34" charset="0"/>
                <a:ea typeface="Cambria" pitchFamily="34" charset="-122"/>
                <a:cs typeface="Cambria" pitchFamily="34" charset="-120"/>
              </a:rPr>
              <a:t>Student — one writer</a:t>
            </a:r>
            <a:endParaRPr lang="en-US" sz="1650" dirty="0"/>
          </a:p>
        </p:txBody>
      </p:sp>
      <p:sp>
        <p:nvSpPr>
          <p:cNvPr id="8" name="Text 5"/>
          <p:cNvSpPr txBox="1"/>
          <p:nvPr/>
        </p:nvSpPr>
        <p:spPr>
          <a:xfrm>
            <a:off x="4709160" y="1783080"/>
            <a:ext cx="6537960" cy="1051560"/>
          </a:xfrm>
          <a:prstGeom prst="rect">
            <a:avLst/>
          </a:prstGeom>
          <a:noFill/>
          <a:ln/>
        </p:spPr>
        <p:txBody>
          <a:bodyPr wrap="square" lIns="0" tIns="0" rIns="0" bIns="0" rtlCol="0" anchor="ctr"/>
          <a:lstStyle/>
          <a:p>
            <a:pPr indent="0" marL="0">
              <a:lnSpc>
                <a:spcPct val="120000"/>
              </a:lnSpc>
              <a:buNone/>
            </a:pPr>
            <a:r>
              <a:rPr lang="en-US" sz="1300" dirty="0">
                <a:solidFill>
                  <a:srgbClr val="1B2430"/>
                </a:solidFill>
                <a:latin typeface="Calibri" pitchFamily="34" charset="0"/>
                <a:ea typeface="Calibri" pitchFamily="34" charset="-122"/>
                <a:cs typeface="Calibri" pitchFamily="34" charset="-120"/>
              </a:rPr>
              <a:t>Only Student Hub creates/updates a Student record. Learning Platform reads it directly, and calls a Student Hub API when it needs a change. This closed a real bug where both apps used to update the same record independently.</a:t>
            </a:r>
            <a:endParaRPr lang="en-US" sz="1300" dirty="0"/>
          </a:p>
        </p:txBody>
      </p:sp>
      <p:sp>
        <p:nvSpPr>
          <p:cNvPr id="9" name="Shape 6"/>
          <p:cNvSpPr/>
          <p:nvPr/>
        </p:nvSpPr>
        <p:spPr>
          <a:xfrm>
            <a:off x="548640" y="3218688"/>
            <a:ext cx="10881360" cy="1417320"/>
          </a:xfrm>
          <a:prstGeom prst="roundRect">
            <a:avLst>
              <a:gd name="adj" fmla="val 5161"/>
            </a:avLst>
          </a:prstGeom>
          <a:solidFill>
            <a:srgbClr val="F1F5F8"/>
          </a:solidFill>
          <a:ln w="12700">
            <a:solidFill>
              <a:srgbClr val="DCE6EB"/>
            </a:solidFill>
            <a:prstDash val="solid"/>
          </a:ln>
          <a:effectLst>
            <a:outerShdw sx="100000" sy="100000" kx="0" ky="0" algn="bl" rotWithShape="0" blurRad="76200" dist="25400" dir="5400000">
              <a:srgbClr val="0B1B2B">
                <a:alpha val="18000"/>
              </a:srgbClr>
            </a:outerShdw>
          </a:effectLst>
        </p:spPr>
      </p:sp>
      <p:sp>
        <p:nvSpPr>
          <p:cNvPr id="10" name="Shape 7"/>
          <p:cNvSpPr/>
          <p:nvPr/>
        </p:nvSpPr>
        <p:spPr>
          <a:xfrm>
            <a:off x="868680" y="3607308"/>
            <a:ext cx="640080" cy="640080"/>
          </a:xfrm>
          <a:prstGeom prst="ellipse">
            <a:avLst/>
          </a:prstGeom>
          <a:solidFill>
            <a:srgbClr val="1C7293"/>
          </a:solidFill>
          <a:ln/>
        </p:spPr>
      </p:sp>
      <p:pic>
        <p:nvPicPr>
          <p:cNvPr id="11" name="Image 1" descr="C:\Users\USER\AppData\Local\Temp\claude\C--Users-biche-cloud-heroes-africa-platform\c742e88a-fbba-45b1-8382-f8dad19948a7\scratchpad\pptx-build\icons\database_FFFFFF.png">    </p:cNvPr>
          <p:cNvPicPr>
            <a:picLocks noChangeAspect="1"/>
          </p:cNvPicPr>
          <p:nvPr/>
        </p:nvPicPr>
        <p:blipFill>
          <a:blip r:embed="rId2"/>
          <a:stretch>
            <a:fillRect/>
          </a:stretch>
        </p:blipFill>
        <p:spPr>
          <a:xfrm>
            <a:off x="1042416" y="3781044"/>
            <a:ext cx="292608" cy="292608"/>
          </a:xfrm>
          <a:prstGeom prst="rect">
            <a:avLst/>
          </a:prstGeom>
        </p:spPr>
      </p:pic>
      <p:sp>
        <p:nvSpPr>
          <p:cNvPr id="12" name="Text 8"/>
          <p:cNvSpPr txBox="1"/>
          <p:nvPr/>
        </p:nvSpPr>
        <p:spPr>
          <a:xfrm>
            <a:off x="1874520" y="3401568"/>
            <a:ext cx="2743200" cy="1051560"/>
          </a:xfrm>
          <a:prstGeom prst="rect">
            <a:avLst/>
          </a:prstGeom>
          <a:noFill/>
          <a:ln/>
        </p:spPr>
        <p:txBody>
          <a:bodyPr wrap="square" lIns="0" tIns="0" rIns="0" bIns="0" rtlCol="0" anchor="ctr"/>
          <a:lstStyle/>
          <a:p>
            <a:pPr indent="0" marL="0">
              <a:lnSpc>
                <a:spcPct val="110000"/>
              </a:lnSpc>
              <a:buNone/>
            </a:pPr>
            <a:r>
              <a:rPr lang="en-US" sz="1650" b="1" dirty="0">
                <a:solidFill>
                  <a:srgbClr val="21295C"/>
                </a:solidFill>
                <a:latin typeface="Cambria" pitchFamily="34" charset="0"/>
                <a:ea typeface="Cambria" pitchFamily="34" charset="-122"/>
                <a:cs typeface="Cambria" pitchFamily="34" charset="-120"/>
              </a:rPr>
              <a:t>One migration runner</a:t>
            </a:r>
            <a:endParaRPr lang="en-US" sz="1650" dirty="0"/>
          </a:p>
        </p:txBody>
      </p:sp>
      <p:sp>
        <p:nvSpPr>
          <p:cNvPr id="13" name="Text 9"/>
          <p:cNvSpPr txBox="1"/>
          <p:nvPr/>
        </p:nvSpPr>
        <p:spPr>
          <a:xfrm>
            <a:off x="4709160" y="3401568"/>
            <a:ext cx="6537960" cy="1051560"/>
          </a:xfrm>
          <a:prstGeom prst="rect">
            <a:avLst/>
          </a:prstGeom>
          <a:noFill/>
          <a:ln/>
        </p:spPr>
        <p:txBody>
          <a:bodyPr wrap="square" lIns="0" tIns="0" rIns="0" bIns="0" rtlCol="0" anchor="ctr"/>
          <a:lstStyle/>
          <a:p>
            <a:pPr indent="0" marL="0">
              <a:lnSpc>
                <a:spcPct val="120000"/>
              </a:lnSpc>
              <a:buNone/>
            </a:pPr>
            <a:r>
              <a:rPr lang="en-US" sz="1300" dirty="0">
                <a:solidFill>
                  <a:srgbClr val="1B2430"/>
                </a:solidFill>
                <a:latin typeface="Calibri" pitchFamily="34" charset="0"/>
                <a:ea typeface="Calibri" pitchFamily="34" charset="-122"/>
                <a:cs typeface="Calibri" pitchFamily="34" charset="-120"/>
              </a:rPr>
              <a:t>Learning Platform is the only app that changes the database's structure — even for tables that conceptually “belong” to Student Hub. Two apps both restructuring one database risks corrupting its own bookkeeping.</a:t>
            </a:r>
            <a:endParaRPr lang="en-US" sz="1300" dirty="0"/>
          </a:p>
        </p:txBody>
      </p:sp>
      <p:sp>
        <p:nvSpPr>
          <p:cNvPr id="14" name="Shape 10"/>
          <p:cNvSpPr/>
          <p:nvPr/>
        </p:nvSpPr>
        <p:spPr>
          <a:xfrm>
            <a:off x="548640" y="4837176"/>
            <a:ext cx="10881360" cy="1417320"/>
          </a:xfrm>
          <a:prstGeom prst="roundRect">
            <a:avLst>
              <a:gd name="adj" fmla="val 5161"/>
            </a:avLst>
          </a:prstGeom>
          <a:solidFill>
            <a:srgbClr val="F1F5F8"/>
          </a:solidFill>
          <a:ln w="12700">
            <a:solidFill>
              <a:srgbClr val="DCE6EB"/>
            </a:solidFill>
            <a:prstDash val="solid"/>
          </a:ln>
          <a:effectLst>
            <a:outerShdw sx="100000" sy="100000" kx="0" ky="0" algn="bl" rotWithShape="0" blurRad="76200" dist="25400" dir="5400000">
              <a:srgbClr val="0B1B2B">
                <a:alpha val="18000"/>
              </a:srgbClr>
            </a:outerShdw>
          </a:effectLst>
        </p:spPr>
      </p:sp>
      <p:sp>
        <p:nvSpPr>
          <p:cNvPr id="15" name="Shape 11"/>
          <p:cNvSpPr/>
          <p:nvPr/>
        </p:nvSpPr>
        <p:spPr>
          <a:xfrm>
            <a:off x="868680" y="5225796"/>
            <a:ext cx="640080" cy="640080"/>
          </a:xfrm>
          <a:prstGeom prst="ellipse">
            <a:avLst/>
          </a:prstGeom>
          <a:solidFill>
            <a:srgbClr val="1C7293"/>
          </a:solidFill>
          <a:ln/>
        </p:spPr>
      </p:sp>
      <p:pic>
        <p:nvPicPr>
          <p:cNvPr id="16" name="Image 2" descr="C:\Users\USER\AppData\Local\Temp\claude\C--Users-biche-cloud-heroes-africa-platform\c742e88a-fbba-45b1-8382-f8dad19948a7\scratchpad\pptx-build\icons\lifebuoy_FFFFFF.png">    </p:cNvPr>
          <p:cNvPicPr>
            <a:picLocks noChangeAspect="1"/>
          </p:cNvPicPr>
          <p:nvPr/>
        </p:nvPicPr>
        <p:blipFill>
          <a:blip r:embed="rId3"/>
          <a:stretch>
            <a:fillRect/>
          </a:stretch>
        </p:blipFill>
        <p:spPr>
          <a:xfrm>
            <a:off x="1042416" y="5399532"/>
            <a:ext cx="292608" cy="292608"/>
          </a:xfrm>
          <a:prstGeom prst="rect">
            <a:avLst/>
          </a:prstGeom>
        </p:spPr>
      </p:pic>
      <p:sp>
        <p:nvSpPr>
          <p:cNvPr id="17" name="Text 12"/>
          <p:cNvSpPr txBox="1"/>
          <p:nvPr/>
        </p:nvSpPr>
        <p:spPr>
          <a:xfrm>
            <a:off x="1874520" y="5020056"/>
            <a:ext cx="2743200" cy="1051560"/>
          </a:xfrm>
          <a:prstGeom prst="rect">
            <a:avLst/>
          </a:prstGeom>
          <a:noFill/>
          <a:ln/>
        </p:spPr>
        <p:txBody>
          <a:bodyPr wrap="square" lIns="0" tIns="0" rIns="0" bIns="0" rtlCol="0" anchor="ctr"/>
          <a:lstStyle/>
          <a:p>
            <a:pPr indent="0" marL="0">
              <a:lnSpc>
                <a:spcPct val="110000"/>
              </a:lnSpc>
              <a:buNone/>
            </a:pPr>
            <a:r>
              <a:rPr lang="en-US" sz="1650" b="1" dirty="0">
                <a:solidFill>
                  <a:srgbClr val="21295C"/>
                </a:solidFill>
                <a:latin typeface="Cambria" pitchFamily="34" charset="0"/>
                <a:ea typeface="Cambria" pitchFamily="34" charset="-122"/>
                <a:cs typeface="Cambria" pitchFamily="34" charset="-120"/>
              </a:rPr>
              <a:t>Support tickets — one engine</a:t>
            </a:r>
            <a:endParaRPr lang="en-US" sz="1650" dirty="0"/>
          </a:p>
        </p:txBody>
      </p:sp>
      <p:sp>
        <p:nvSpPr>
          <p:cNvPr id="18" name="Text 13"/>
          <p:cNvSpPr txBox="1"/>
          <p:nvPr/>
        </p:nvSpPr>
        <p:spPr>
          <a:xfrm>
            <a:off x="4709160" y="5020056"/>
            <a:ext cx="6537960" cy="1051560"/>
          </a:xfrm>
          <a:prstGeom prst="rect">
            <a:avLst/>
          </a:prstGeom>
          <a:noFill/>
          <a:ln/>
        </p:spPr>
        <p:txBody>
          <a:bodyPr wrap="square" lIns="0" tIns="0" rIns="0" bIns="0" rtlCol="0" anchor="ctr"/>
          <a:lstStyle/>
          <a:p>
            <a:pPr indent="0" marL="0">
              <a:lnSpc>
                <a:spcPct val="120000"/>
              </a:lnSpc>
              <a:buNone/>
            </a:pPr>
            <a:r>
              <a:rPr lang="en-US" sz="1300" dirty="0">
                <a:solidFill>
                  <a:srgbClr val="1B2430"/>
                </a:solidFill>
                <a:latin typeface="Calibri" pitchFamily="34" charset="0"/>
                <a:ea typeface="Calibri" pitchFamily="34" charset="-122"/>
                <a:cs typeface="Calibri" pitchFamily="34" charset="-120"/>
              </a:rPr>
              <a:t>Student Hub runs the real read / manage / status-update engine. Learning Platform can only create a new ticket — it has no support-desk experience of its own.</a:t>
            </a:r>
            <a:endParaRPr lang="en-US" sz="1300" dirty="0"/>
          </a:p>
        </p:txBody>
      </p:sp>
      <p:sp>
        <p:nvSpPr>
          <p:cNvPr id="19" name="Text 14"/>
          <p:cNvSpPr txBox="1"/>
          <p:nvPr/>
        </p:nvSpPr>
        <p:spPr>
          <a:xfrm>
            <a:off x="548640" y="6501384"/>
            <a:ext cx="10881360" cy="365760"/>
          </a:xfrm>
          <a:prstGeom prst="rect">
            <a:avLst/>
          </a:prstGeom>
          <a:noFill/>
          <a:ln/>
        </p:spPr>
        <p:txBody>
          <a:bodyPr wrap="square" lIns="0" tIns="0" rIns="0" bIns="0" rtlCol="0" anchor="ctr"/>
          <a:lstStyle/>
          <a:p>
            <a:pPr algn="ctr" indent="0" marL="0">
              <a:buNone/>
            </a:pPr>
            <a:r>
              <a:rPr lang="en-US" sz="1250" i="1" dirty="0">
                <a:solidFill>
                  <a:srgbClr val="5B6B79"/>
                </a:solidFill>
                <a:latin typeface="Calibri" pitchFamily="34" charset="0"/>
                <a:ea typeface="Calibri" pitchFamily="34" charset="-122"/>
                <a:cs typeface="Calibri" pitchFamily="34" charset="-120"/>
              </a:rPr>
              <a:t>None of this is meant to be permanent — it's a stand-in until a dedicated “Administration” app exists.</a:t>
            </a:r>
            <a:endParaRPr lang="en-US" sz="1250" dirty="0"/>
          </a:p>
        </p:txBody>
      </p:sp>
      <p:sp>
        <p:nvSpPr>
          <p:cNvPr id="20" name="Text 15"/>
          <p:cNvSpPr txBox="1"/>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How the Platform's Database Is Designed</a:t>
            </a:r>
            <a:endParaRPr lang="en-US" sz="1000" dirty="0"/>
          </a:p>
        </p:txBody>
      </p:sp>
      <p:sp>
        <p:nvSpPr>
          <p:cNvPr id="21" name="Text 16"/>
          <p:cNvSpPr txBox="1"/>
          <p:nvPr/>
        </p:nvSpPr>
        <p:spPr>
          <a:xfrm>
            <a:off x="11338560" y="6528816"/>
            <a:ext cx="45720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05156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GETTING HERE</a:t>
            </a:r>
            <a:endParaRPr lang="en-US" sz="1300" dirty="0"/>
          </a:p>
        </p:txBody>
      </p:sp>
      <p:sp>
        <p:nvSpPr>
          <p:cNvPr id="3" name="Text 1"/>
          <p:cNvSpPr txBox="1"/>
          <p:nvPr/>
        </p:nvSpPr>
        <p:spPr>
          <a:xfrm>
            <a:off x="457200" y="621792"/>
            <a:ext cx="1124712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How the Old Data Got Into the New Database</a:t>
            </a:r>
            <a:endParaRPr lang="en-US" sz="3000" dirty="0"/>
          </a:p>
        </p:txBody>
      </p:sp>
      <p:sp>
        <p:nvSpPr>
          <p:cNvPr id="4" name="Shape 2"/>
          <p:cNvSpPr/>
          <p:nvPr/>
        </p:nvSpPr>
        <p:spPr>
          <a:xfrm>
            <a:off x="548640" y="1828800"/>
            <a:ext cx="3520440" cy="2743200"/>
          </a:xfrm>
          <a:prstGeom prst="roundRect">
            <a:avLst>
              <a:gd name="adj" fmla="val 2667"/>
            </a:avLst>
          </a:prstGeom>
          <a:solidFill>
            <a:srgbClr val="F1F5F8"/>
          </a:solidFill>
          <a:ln w="12700">
            <a:solidFill>
              <a:srgbClr val="DCE6EB"/>
            </a:solidFill>
            <a:prstDash val="solid"/>
          </a:ln>
          <a:effectLst>
            <a:outerShdw sx="100000" sy="100000" kx="0" ky="0" algn="bl" rotWithShape="0" blurRad="76200" dist="25400" dir="5400000">
              <a:srgbClr val="0B1B2B">
                <a:alpha val="18000"/>
              </a:srgbClr>
            </a:outerShdw>
          </a:effectLst>
        </p:spPr>
      </p:sp>
      <p:sp>
        <p:nvSpPr>
          <p:cNvPr id="5" name="Shape 3"/>
          <p:cNvSpPr/>
          <p:nvPr/>
        </p:nvSpPr>
        <p:spPr>
          <a:xfrm>
            <a:off x="822960" y="2103120"/>
            <a:ext cx="658368" cy="658368"/>
          </a:xfrm>
          <a:prstGeom prst="ellipse">
            <a:avLst/>
          </a:prstGeom>
          <a:solidFill>
            <a:srgbClr val="1C7293"/>
          </a:solidFill>
          <a:ln/>
        </p:spPr>
      </p:sp>
      <p:sp>
        <p:nvSpPr>
          <p:cNvPr id="6" name="Text 4"/>
          <p:cNvSpPr txBox="1"/>
          <p:nvPr/>
        </p:nvSpPr>
        <p:spPr>
          <a:xfrm>
            <a:off x="822960" y="2103120"/>
            <a:ext cx="658368" cy="65836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7" name="Text 5"/>
          <p:cNvSpPr txBox="1"/>
          <p:nvPr/>
        </p:nvSpPr>
        <p:spPr>
          <a:xfrm>
            <a:off x="822960" y="2926080"/>
            <a:ext cx="2971800" cy="502920"/>
          </a:xfrm>
          <a:prstGeom prst="rect">
            <a:avLst/>
          </a:prstGeom>
          <a:noFill/>
          <a:ln/>
        </p:spPr>
        <p:txBody>
          <a:bodyPr wrap="square" lIns="0" tIns="0" rIns="0" bIns="0" rtlCol="0" anchor="ctr"/>
          <a:lstStyle/>
          <a:p>
            <a:pPr indent="0" marL="0">
              <a:buNone/>
            </a:pPr>
            <a:r>
              <a:rPr lang="en-US" sz="1650" b="1" dirty="0">
                <a:solidFill>
                  <a:srgbClr val="21295C"/>
                </a:solidFill>
                <a:latin typeface="Cambria" pitchFamily="34" charset="0"/>
                <a:ea typeface="Cambria" pitchFamily="34" charset="-122"/>
                <a:cs typeface="Cambria" pitchFamily="34" charset="-120"/>
              </a:rPr>
              <a:t>Ordered move</a:t>
            </a:r>
            <a:endParaRPr lang="en-US" sz="1650" dirty="0"/>
          </a:p>
        </p:txBody>
      </p:sp>
      <p:sp>
        <p:nvSpPr>
          <p:cNvPr id="8" name="Text 6"/>
          <p:cNvSpPr txBox="1"/>
          <p:nvPr/>
        </p:nvSpPr>
        <p:spPr>
          <a:xfrm>
            <a:off x="822960" y="3429000"/>
            <a:ext cx="2971800" cy="1005840"/>
          </a:xfrm>
          <a:prstGeom prst="rect">
            <a:avLst/>
          </a:prstGeom>
          <a:noFill/>
          <a:ln/>
        </p:spPr>
        <p:txBody>
          <a:bodyPr wrap="square" lIns="0" tIns="0" rIns="0" bIns="0" rtlCol="0" anchor="ctr"/>
          <a:lstStyle/>
          <a:p>
            <a:pPr indent="0" marL="0">
              <a:lnSpc>
                <a:spcPct val="125000"/>
              </a:lnSpc>
              <a:buNone/>
            </a:pPr>
            <a:r>
              <a:rPr lang="en-US" sz="1300" dirty="0">
                <a:solidFill>
                  <a:srgbClr val="1B2430"/>
                </a:solidFill>
                <a:latin typeface="Calibri" pitchFamily="34" charset="0"/>
                <a:ea typeface="Calibri" pitchFamily="34" charset="-122"/>
                <a:cs typeface="Calibri" pitchFamily="34" charset="-120"/>
              </a:rPr>
              <a:t>A one-time script moved every record out of the old JSON files into Postgres — people first, then anything that references a person.</a:t>
            </a:r>
            <a:endParaRPr lang="en-US" sz="1300" dirty="0"/>
          </a:p>
        </p:txBody>
      </p:sp>
      <p:sp>
        <p:nvSpPr>
          <p:cNvPr id="9" name="Text 7"/>
          <p:cNvSpPr txBox="1"/>
          <p:nvPr/>
        </p:nvSpPr>
        <p:spPr>
          <a:xfrm>
            <a:off x="4087368" y="2880360"/>
            <a:ext cx="283464" cy="640080"/>
          </a:xfrm>
          <a:prstGeom prst="rect">
            <a:avLst/>
          </a:prstGeom>
          <a:noFill/>
          <a:ln/>
        </p:spPr>
        <p:txBody>
          <a:bodyPr wrap="square" lIns="0" tIns="0" rIns="0" bIns="0"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4389120" y="1828800"/>
            <a:ext cx="3520440" cy="2743200"/>
          </a:xfrm>
          <a:prstGeom prst="roundRect">
            <a:avLst>
              <a:gd name="adj" fmla="val 2667"/>
            </a:avLst>
          </a:prstGeom>
          <a:solidFill>
            <a:srgbClr val="F1F5F8"/>
          </a:solidFill>
          <a:ln w="12700">
            <a:solidFill>
              <a:srgbClr val="DCE6EB"/>
            </a:solidFill>
            <a:prstDash val="solid"/>
          </a:ln>
          <a:effectLst>
            <a:outerShdw sx="100000" sy="100000" kx="0" ky="0" algn="bl" rotWithShape="0" blurRad="76200" dist="25400" dir="5400000">
              <a:srgbClr val="0B1B2B">
                <a:alpha val="18000"/>
              </a:srgbClr>
            </a:outerShdw>
          </a:effectLst>
        </p:spPr>
      </p:sp>
      <p:sp>
        <p:nvSpPr>
          <p:cNvPr id="11" name="Shape 9"/>
          <p:cNvSpPr/>
          <p:nvPr/>
        </p:nvSpPr>
        <p:spPr>
          <a:xfrm>
            <a:off x="4663440" y="2103120"/>
            <a:ext cx="658368" cy="658368"/>
          </a:xfrm>
          <a:prstGeom prst="ellipse">
            <a:avLst/>
          </a:prstGeom>
          <a:solidFill>
            <a:srgbClr val="1C7293"/>
          </a:solidFill>
          <a:ln/>
        </p:spPr>
      </p:sp>
      <p:sp>
        <p:nvSpPr>
          <p:cNvPr id="12" name="Text 10"/>
          <p:cNvSpPr txBox="1"/>
          <p:nvPr/>
        </p:nvSpPr>
        <p:spPr>
          <a:xfrm>
            <a:off x="4663440" y="2103120"/>
            <a:ext cx="658368" cy="65836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3" name="Text 11"/>
          <p:cNvSpPr txBox="1"/>
          <p:nvPr/>
        </p:nvSpPr>
        <p:spPr>
          <a:xfrm>
            <a:off x="4663440" y="2926080"/>
            <a:ext cx="2971800" cy="502920"/>
          </a:xfrm>
          <a:prstGeom prst="rect">
            <a:avLst/>
          </a:prstGeom>
          <a:noFill/>
          <a:ln/>
        </p:spPr>
        <p:txBody>
          <a:bodyPr wrap="square" lIns="0" tIns="0" rIns="0" bIns="0" rtlCol="0" anchor="ctr"/>
          <a:lstStyle/>
          <a:p>
            <a:pPr indent="0" marL="0">
              <a:buNone/>
            </a:pPr>
            <a:r>
              <a:rPr lang="en-US" sz="1650" b="1" dirty="0">
                <a:solidFill>
                  <a:srgbClr val="21295C"/>
                </a:solidFill>
                <a:latin typeface="Cambria" pitchFamily="34" charset="0"/>
                <a:ea typeface="Cambria" pitchFamily="34" charset="-122"/>
                <a:cs typeface="Cambria" pitchFamily="34" charset="-120"/>
              </a:rPr>
              <a:t>Safe to re-run</a:t>
            </a:r>
            <a:endParaRPr lang="en-US" sz="1650" dirty="0"/>
          </a:p>
        </p:txBody>
      </p:sp>
      <p:sp>
        <p:nvSpPr>
          <p:cNvPr id="14" name="Text 12"/>
          <p:cNvSpPr txBox="1"/>
          <p:nvPr/>
        </p:nvSpPr>
        <p:spPr>
          <a:xfrm>
            <a:off x="4663440" y="3429000"/>
            <a:ext cx="2971800" cy="1005840"/>
          </a:xfrm>
          <a:prstGeom prst="rect">
            <a:avLst/>
          </a:prstGeom>
          <a:noFill/>
          <a:ln/>
        </p:spPr>
        <p:txBody>
          <a:bodyPr wrap="square" lIns="0" tIns="0" rIns="0" bIns="0" rtlCol="0" anchor="ctr"/>
          <a:lstStyle/>
          <a:p>
            <a:pPr indent="0" marL="0">
              <a:lnSpc>
                <a:spcPct val="125000"/>
              </a:lnSpc>
              <a:buNone/>
            </a:pPr>
            <a:r>
              <a:rPr lang="en-US" sz="1300" dirty="0">
                <a:solidFill>
                  <a:srgbClr val="1B2430"/>
                </a:solidFill>
                <a:latin typeface="Calibri" pitchFamily="34" charset="0"/>
                <a:ea typeface="Calibri" pitchFamily="34" charset="-122"/>
                <a:cs typeface="Calibri" pitchFamily="34" charset="-120"/>
              </a:rPr>
              <a:t>Existing rows are updated by their known ID, not duplicated, so re-running it after a fix converges instead of creating copies.</a:t>
            </a:r>
            <a:endParaRPr lang="en-US" sz="1300" dirty="0"/>
          </a:p>
        </p:txBody>
      </p:sp>
      <p:sp>
        <p:nvSpPr>
          <p:cNvPr id="15" name="Text 13"/>
          <p:cNvSpPr txBox="1"/>
          <p:nvPr/>
        </p:nvSpPr>
        <p:spPr>
          <a:xfrm>
            <a:off x="7927848" y="2880360"/>
            <a:ext cx="283464" cy="640080"/>
          </a:xfrm>
          <a:prstGeom prst="rect">
            <a:avLst/>
          </a:prstGeom>
          <a:noFill/>
          <a:ln/>
        </p:spPr>
        <p:txBody>
          <a:bodyPr wrap="square" lIns="0" tIns="0" rIns="0" bIns="0"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8229600" y="1828800"/>
            <a:ext cx="3520440" cy="2743200"/>
          </a:xfrm>
          <a:prstGeom prst="roundRect">
            <a:avLst>
              <a:gd name="adj" fmla="val 2667"/>
            </a:avLst>
          </a:prstGeom>
          <a:solidFill>
            <a:srgbClr val="F1F5F8"/>
          </a:solidFill>
          <a:ln w="12700">
            <a:solidFill>
              <a:srgbClr val="DCE6EB"/>
            </a:solidFill>
            <a:prstDash val="solid"/>
          </a:ln>
          <a:effectLst>
            <a:outerShdw sx="100000" sy="100000" kx="0" ky="0" algn="bl" rotWithShape="0" blurRad="76200" dist="25400" dir="5400000">
              <a:srgbClr val="0B1B2B">
                <a:alpha val="18000"/>
              </a:srgbClr>
            </a:outerShdw>
          </a:effectLst>
        </p:spPr>
      </p:sp>
      <p:sp>
        <p:nvSpPr>
          <p:cNvPr id="17" name="Shape 15"/>
          <p:cNvSpPr/>
          <p:nvPr/>
        </p:nvSpPr>
        <p:spPr>
          <a:xfrm>
            <a:off x="8503920" y="2103120"/>
            <a:ext cx="658368" cy="658368"/>
          </a:xfrm>
          <a:prstGeom prst="ellipse">
            <a:avLst/>
          </a:prstGeom>
          <a:solidFill>
            <a:srgbClr val="5FB4A2"/>
          </a:solidFill>
          <a:ln/>
        </p:spPr>
      </p:sp>
      <p:sp>
        <p:nvSpPr>
          <p:cNvPr id="18" name="Text 16"/>
          <p:cNvSpPr txBox="1"/>
          <p:nvPr/>
        </p:nvSpPr>
        <p:spPr>
          <a:xfrm>
            <a:off x="8503920" y="2103120"/>
            <a:ext cx="658368" cy="65836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9" name="Text 17"/>
          <p:cNvSpPr txBox="1"/>
          <p:nvPr/>
        </p:nvSpPr>
        <p:spPr>
          <a:xfrm>
            <a:off x="8503920" y="2926080"/>
            <a:ext cx="2971800" cy="502920"/>
          </a:xfrm>
          <a:prstGeom prst="rect">
            <a:avLst/>
          </a:prstGeom>
          <a:noFill/>
          <a:ln/>
        </p:spPr>
        <p:txBody>
          <a:bodyPr wrap="square" lIns="0" tIns="0" rIns="0" bIns="0" rtlCol="0" anchor="ctr"/>
          <a:lstStyle/>
          <a:p>
            <a:pPr indent="0" marL="0">
              <a:buNone/>
            </a:pPr>
            <a:r>
              <a:rPr lang="en-US" sz="1650" b="1" dirty="0">
                <a:solidFill>
                  <a:srgbClr val="21295C"/>
                </a:solidFill>
                <a:latin typeface="Cambria" pitchFamily="34" charset="0"/>
                <a:ea typeface="Cambria" pitchFamily="34" charset="-122"/>
                <a:cs typeface="Cambria" pitchFamily="34" charset="-120"/>
              </a:rPr>
              <a:t>Old files kept, for now</a:t>
            </a:r>
            <a:endParaRPr lang="en-US" sz="1650" dirty="0"/>
          </a:p>
        </p:txBody>
      </p:sp>
      <p:sp>
        <p:nvSpPr>
          <p:cNvPr id="20" name="Text 18"/>
          <p:cNvSpPr txBox="1"/>
          <p:nvPr/>
        </p:nvSpPr>
        <p:spPr>
          <a:xfrm>
            <a:off x="8503920" y="3429000"/>
            <a:ext cx="2971800" cy="1005840"/>
          </a:xfrm>
          <a:prstGeom prst="rect">
            <a:avLst/>
          </a:prstGeom>
          <a:noFill/>
          <a:ln/>
        </p:spPr>
        <p:txBody>
          <a:bodyPr wrap="square" lIns="0" tIns="0" rIns="0" bIns="0" rtlCol="0" anchor="ctr"/>
          <a:lstStyle/>
          <a:p>
            <a:pPr indent="0" marL="0">
              <a:lnSpc>
                <a:spcPct val="125000"/>
              </a:lnSpc>
              <a:buNone/>
            </a:pPr>
            <a:r>
              <a:rPr lang="en-US" sz="1300" dirty="0">
                <a:solidFill>
                  <a:srgbClr val="1B2430"/>
                </a:solidFill>
                <a:latin typeface="Calibri" pitchFamily="34" charset="0"/>
                <a:ea typeface="Calibri" pitchFamily="34" charset="-122"/>
                <a:cs typeface="Calibri" pitchFamily="34" charset="-120"/>
              </a:rPr>
              <a:t>The original JSON files are still in the repo as a safety net — no longer “live,” and scheduled for cleanup once fully verified.</a:t>
            </a:r>
            <a:endParaRPr lang="en-US" sz="1300" dirty="0"/>
          </a:p>
        </p:txBody>
      </p:sp>
      <p:sp>
        <p:nvSpPr>
          <p:cNvPr id="21" name="Text 19"/>
          <p:cNvSpPr txBox="1"/>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How the Platform's Database Is Designed</a:t>
            </a:r>
            <a:endParaRPr lang="en-US" sz="1000" dirty="0"/>
          </a:p>
        </p:txBody>
      </p:sp>
      <p:sp>
        <p:nvSpPr>
          <p:cNvPr id="22" name="Text 20"/>
          <p:cNvSpPr txBox="1"/>
          <p:nvPr/>
        </p:nvSpPr>
        <p:spPr>
          <a:xfrm>
            <a:off x="11338560" y="6528816"/>
            <a:ext cx="45720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05156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NEEDS A TEAM DECISION</a:t>
            </a:r>
            <a:endParaRPr lang="en-US" sz="1300" dirty="0"/>
          </a:p>
        </p:txBody>
      </p:sp>
      <p:sp>
        <p:nvSpPr>
          <p:cNvPr id="3" name="Text 1"/>
          <p:cNvSpPr txBox="1"/>
          <p:nvPr/>
        </p:nvSpPr>
        <p:spPr>
          <a:xfrm>
            <a:off x="457200" y="621792"/>
            <a:ext cx="1124712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Three Open Questions</a:t>
            </a:r>
            <a:endParaRPr lang="en-US" sz="3000" dirty="0"/>
          </a:p>
        </p:txBody>
      </p:sp>
      <p:sp>
        <p:nvSpPr>
          <p:cNvPr id="4" name="Shape 2"/>
          <p:cNvSpPr/>
          <p:nvPr/>
        </p:nvSpPr>
        <p:spPr>
          <a:xfrm>
            <a:off x="548640" y="1554480"/>
            <a:ext cx="3520440" cy="3977640"/>
          </a:xfrm>
          <a:prstGeom prst="roundRect">
            <a:avLst>
              <a:gd name="adj" fmla="val 2078"/>
            </a:avLst>
          </a:prstGeom>
          <a:solidFill>
            <a:srgbClr val="21295C"/>
          </a:solidFill>
          <a:ln w="12700">
            <a:solidFill>
              <a:srgbClr val="DCE6EB"/>
            </a:solidFill>
            <a:prstDash val="solid"/>
          </a:ln>
          <a:effectLst>
            <a:outerShdw sx="100000" sy="100000" kx="0" ky="0" algn="bl" rotWithShape="0" blurRad="76200" dist="25400" dir="5400000">
              <a:srgbClr val="0B1B2B">
                <a:alpha val="18000"/>
              </a:srgbClr>
            </a:outerShdw>
          </a:effectLst>
        </p:spPr>
      </p:sp>
      <p:sp>
        <p:nvSpPr>
          <p:cNvPr id="5" name="Shape 3"/>
          <p:cNvSpPr/>
          <p:nvPr/>
        </p:nvSpPr>
        <p:spPr>
          <a:xfrm>
            <a:off x="822960" y="1828800"/>
            <a:ext cx="548640" cy="548640"/>
          </a:xfrm>
          <a:prstGeom prst="ellipse">
            <a:avLst/>
          </a:prstGeom>
          <a:solidFill>
            <a:srgbClr val="5FB4A2"/>
          </a:solidFill>
          <a:ln/>
        </p:spPr>
      </p:sp>
      <p:pic>
        <p:nvPicPr>
          <p:cNvPr id="6" name="Image 0" descr="C:\Users\USER\AppData\Local\Temp\claude\C--Users-biche-cloud-heroes-africa-platform\c742e88a-fbba-45b1-8382-f8dad19948a7\scratchpad\pptx-build\icons\help_FFFFFF.png">    </p:cNvPr>
          <p:cNvPicPr>
            <a:picLocks noChangeAspect="1"/>
          </p:cNvPicPr>
          <p:nvPr/>
        </p:nvPicPr>
        <p:blipFill>
          <a:blip r:embed="rId1"/>
          <a:stretch>
            <a:fillRect/>
          </a:stretch>
        </p:blipFill>
        <p:spPr>
          <a:xfrm>
            <a:off x="950976" y="1956816"/>
            <a:ext cx="292608" cy="292608"/>
          </a:xfrm>
          <a:prstGeom prst="rect">
            <a:avLst/>
          </a:prstGeom>
        </p:spPr>
      </p:pic>
      <p:sp>
        <p:nvSpPr>
          <p:cNvPr id="7" name="Text 4"/>
          <p:cNvSpPr txBox="1"/>
          <p:nvPr/>
        </p:nvSpPr>
        <p:spPr>
          <a:xfrm>
            <a:off x="822960" y="2606040"/>
            <a:ext cx="2971800" cy="1005840"/>
          </a:xfrm>
          <a:prstGeom prst="rect">
            <a:avLst/>
          </a:prstGeom>
          <a:noFill/>
          <a:ln/>
        </p:spPr>
        <p:txBody>
          <a:bodyPr wrap="square" lIns="0" tIns="0" rIns="0" bIns="0" rtlCol="0" anchor="ctr"/>
          <a:lstStyle/>
          <a:p>
            <a:pPr indent="0" marL="0">
              <a:lnSpc>
                <a:spcPct val="118000"/>
              </a:lnSpc>
              <a:buNone/>
            </a:pPr>
            <a:r>
              <a:rPr lang="en-US" sz="1600" b="1" dirty="0">
                <a:solidFill>
                  <a:srgbClr val="FFFFFF"/>
                </a:solidFill>
                <a:latin typeface="Cambria" pitchFamily="34" charset="0"/>
                <a:ea typeface="Cambria" pitchFamily="34" charset="-122"/>
                <a:cs typeface="Cambria" pitchFamily="34" charset="-120"/>
              </a:rPr>
              <a:t>Is Postgres the final home for assessment data?</a:t>
            </a:r>
            <a:endParaRPr lang="en-US" sz="1600" dirty="0"/>
          </a:p>
        </p:txBody>
      </p:sp>
      <p:sp>
        <p:nvSpPr>
          <p:cNvPr id="8" name="Shape 5"/>
          <p:cNvSpPr/>
          <p:nvPr/>
        </p:nvSpPr>
        <p:spPr>
          <a:xfrm>
            <a:off x="822960" y="3657600"/>
            <a:ext cx="2971800" cy="9144"/>
          </a:xfrm>
          <a:prstGeom prst="line">
            <a:avLst/>
          </a:prstGeom>
          <a:noFill/>
          <a:ln w="12700">
            <a:solidFill>
              <a:srgbClr val="3A4570"/>
            </a:solidFill>
            <a:prstDash val="solid"/>
          </a:ln>
        </p:spPr>
      </p:sp>
      <p:sp>
        <p:nvSpPr>
          <p:cNvPr id="9" name="Text 6"/>
          <p:cNvSpPr txBox="1"/>
          <p:nvPr/>
        </p:nvSpPr>
        <p:spPr>
          <a:xfrm>
            <a:off x="822960" y="3794760"/>
            <a:ext cx="2971800" cy="1554480"/>
          </a:xfrm>
          <a:prstGeom prst="rect">
            <a:avLst/>
          </a:prstGeom>
          <a:noFill/>
          <a:ln/>
        </p:spPr>
        <p:txBody>
          <a:bodyPr wrap="square" lIns="0" tIns="0" rIns="0" bIns="0" rtlCol="0" anchor="ctr"/>
          <a:lstStyle/>
          <a:p>
            <a:pPr indent="0" marL="0">
              <a:lnSpc>
                <a:spcPct val="125000"/>
              </a:lnSpc>
              <a:buNone/>
            </a:pPr>
            <a:r>
              <a:rPr lang="en-US" sz="1200" dirty="0">
                <a:solidFill>
                  <a:srgbClr val="C9DCE6"/>
                </a:solidFill>
                <a:latin typeface="Calibri" pitchFamily="34" charset="0"/>
                <a:ea typeface="Calibri" pitchFamily="34" charset="-122"/>
                <a:cs typeface="Calibri" pitchFamily="34" charset="-120"/>
              </a:rPr>
              <a:t>A late-August decision kept assessment data logically separate from Student Hub's (linked only by student ID, as built today) but explicitly left open whether the underlying engine stays Postgres or moves elsewhere.</a:t>
            </a:r>
            <a:endParaRPr lang="en-US" sz="1200" dirty="0"/>
          </a:p>
        </p:txBody>
      </p:sp>
      <p:sp>
        <p:nvSpPr>
          <p:cNvPr id="10" name="Shape 7"/>
          <p:cNvSpPr/>
          <p:nvPr/>
        </p:nvSpPr>
        <p:spPr>
          <a:xfrm>
            <a:off x="4389120" y="1554480"/>
            <a:ext cx="3520440" cy="3977640"/>
          </a:xfrm>
          <a:prstGeom prst="roundRect">
            <a:avLst>
              <a:gd name="adj" fmla="val 2078"/>
            </a:avLst>
          </a:prstGeom>
          <a:solidFill>
            <a:srgbClr val="21295C"/>
          </a:solidFill>
          <a:ln w="12700">
            <a:solidFill>
              <a:srgbClr val="DCE6EB"/>
            </a:solidFill>
            <a:prstDash val="solid"/>
          </a:ln>
          <a:effectLst>
            <a:outerShdw sx="100000" sy="100000" kx="0" ky="0" algn="bl" rotWithShape="0" blurRad="76200" dist="25400" dir="5400000">
              <a:srgbClr val="0B1B2B">
                <a:alpha val="18000"/>
              </a:srgbClr>
            </a:outerShdw>
          </a:effectLst>
        </p:spPr>
      </p:sp>
      <p:sp>
        <p:nvSpPr>
          <p:cNvPr id="11" name="Shape 8"/>
          <p:cNvSpPr/>
          <p:nvPr/>
        </p:nvSpPr>
        <p:spPr>
          <a:xfrm>
            <a:off x="4663440" y="1828800"/>
            <a:ext cx="548640" cy="548640"/>
          </a:xfrm>
          <a:prstGeom prst="ellipse">
            <a:avLst/>
          </a:prstGeom>
          <a:solidFill>
            <a:srgbClr val="5FB4A2"/>
          </a:solidFill>
          <a:ln/>
        </p:spPr>
      </p:sp>
      <p:pic>
        <p:nvPicPr>
          <p:cNvPr id="12" name="Image 1" descr="C:\Users\USER\AppData\Local\Temp\claude\C--Users-biche-cloud-heroes-africa-platform\c742e88a-fbba-45b1-8382-f8dad19948a7\scratchpad\pptx-build\icons\help_FFFFFF.png">    </p:cNvPr>
          <p:cNvPicPr>
            <a:picLocks noChangeAspect="1"/>
          </p:cNvPicPr>
          <p:nvPr/>
        </p:nvPicPr>
        <p:blipFill>
          <a:blip r:embed="rId2"/>
          <a:stretch>
            <a:fillRect/>
          </a:stretch>
        </p:blipFill>
        <p:spPr>
          <a:xfrm>
            <a:off x="4791456" y="1956816"/>
            <a:ext cx="292608" cy="292608"/>
          </a:xfrm>
          <a:prstGeom prst="rect">
            <a:avLst/>
          </a:prstGeom>
        </p:spPr>
      </p:pic>
      <p:sp>
        <p:nvSpPr>
          <p:cNvPr id="13" name="Text 9"/>
          <p:cNvSpPr txBox="1"/>
          <p:nvPr/>
        </p:nvSpPr>
        <p:spPr>
          <a:xfrm>
            <a:off x="4663440" y="2606040"/>
            <a:ext cx="2971800" cy="1005840"/>
          </a:xfrm>
          <a:prstGeom prst="rect">
            <a:avLst/>
          </a:prstGeom>
          <a:noFill/>
          <a:ln/>
        </p:spPr>
        <p:txBody>
          <a:bodyPr wrap="square" lIns="0" tIns="0" rIns="0" bIns="0" rtlCol="0" anchor="ctr"/>
          <a:lstStyle/>
          <a:p>
            <a:pPr indent="0" marL="0">
              <a:lnSpc>
                <a:spcPct val="118000"/>
              </a:lnSpc>
              <a:buNone/>
            </a:pPr>
            <a:r>
              <a:rPr lang="en-US" sz="1600" b="1" dirty="0">
                <a:solidFill>
                  <a:srgbClr val="FFFFFF"/>
                </a:solidFill>
                <a:latin typeface="Cambria" pitchFamily="34" charset="0"/>
                <a:ea typeface="Cambria" pitchFamily="34" charset="-122"/>
                <a:cs typeface="Cambria" pitchFamily="34" charset="-120"/>
              </a:rPr>
              <a:t>“Postgres vs. NoSQL” is still marked Open</a:t>
            </a:r>
            <a:endParaRPr lang="en-US" sz="1600" dirty="0"/>
          </a:p>
        </p:txBody>
      </p:sp>
      <p:sp>
        <p:nvSpPr>
          <p:cNvPr id="14" name="Shape 10"/>
          <p:cNvSpPr/>
          <p:nvPr/>
        </p:nvSpPr>
        <p:spPr>
          <a:xfrm>
            <a:off x="4663440" y="3657600"/>
            <a:ext cx="2971800" cy="9144"/>
          </a:xfrm>
          <a:prstGeom prst="line">
            <a:avLst/>
          </a:prstGeom>
          <a:noFill/>
          <a:ln w="12700">
            <a:solidFill>
              <a:srgbClr val="3A4570"/>
            </a:solidFill>
            <a:prstDash val="solid"/>
          </a:ln>
        </p:spPr>
      </p:sp>
      <p:sp>
        <p:nvSpPr>
          <p:cNvPr id="15" name="Text 11"/>
          <p:cNvSpPr txBox="1"/>
          <p:nvPr/>
        </p:nvSpPr>
        <p:spPr>
          <a:xfrm>
            <a:off x="4663440" y="3794760"/>
            <a:ext cx="2971800" cy="1554480"/>
          </a:xfrm>
          <a:prstGeom prst="rect">
            <a:avLst/>
          </a:prstGeom>
          <a:noFill/>
          <a:ln/>
        </p:spPr>
        <p:txBody>
          <a:bodyPr wrap="square" lIns="0" tIns="0" rIns="0" bIns="0" rtlCol="0" anchor="ctr"/>
          <a:lstStyle/>
          <a:p>
            <a:pPr indent="0" marL="0">
              <a:lnSpc>
                <a:spcPct val="125000"/>
              </a:lnSpc>
              <a:buNone/>
            </a:pPr>
            <a:r>
              <a:rPr lang="en-US" sz="1200" dirty="0">
                <a:solidFill>
                  <a:srgbClr val="C9DCE6"/>
                </a:solidFill>
                <a:latin typeface="Calibri" pitchFamily="34" charset="0"/>
                <a:ea typeface="Calibri" pitchFamily="34" charset="-122"/>
                <a:cs typeface="Calibri" pitchFamily="34" charset="-120"/>
              </a:rPr>
              <a:t>It's still an open line in the team's decision log, even though every other document and all the actual work already treats Postgres as final — needs a formal close-out.</a:t>
            </a:r>
            <a:endParaRPr lang="en-US" sz="1200" dirty="0"/>
          </a:p>
        </p:txBody>
      </p:sp>
      <p:sp>
        <p:nvSpPr>
          <p:cNvPr id="16" name="Shape 12"/>
          <p:cNvSpPr/>
          <p:nvPr/>
        </p:nvSpPr>
        <p:spPr>
          <a:xfrm>
            <a:off x="8229600" y="1554480"/>
            <a:ext cx="3520440" cy="3977640"/>
          </a:xfrm>
          <a:prstGeom prst="roundRect">
            <a:avLst>
              <a:gd name="adj" fmla="val 2078"/>
            </a:avLst>
          </a:prstGeom>
          <a:solidFill>
            <a:srgbClr val="21295C"/>
          </a:solidFill>
          <a:ln w="12700">
            <a:solidFill>
              <a:srgbClr val="DCE6EB"/>
            </a:solidFill>
            <a:prstDash val="solid"/>
          </a:ln>
          <a:effectLst>
            <a:outerShdw sx="100000" sy="100000" kx="0" ky="0" algn="bl" rotWithShape="0" blurRad="76200" dist="25400" dir="5400000">
              <a:srgbClr val="0B1B2B">
                <a:alpha val="18000"/>
              </a:srgbClr>
            </a:outerShdw>
          </a:effectLst>
        </p:spPr>
      </p:sp>
      <p:sp>
        <p:nvSpPr>
          <p:cNvPr id="17" name="Shape 13"/>
          <p:cNvSpPr/>
          <p:nvPr/>
        </p:nvSpPr>
        <p:spPr>
          <a:xfrm>
            <a:off x="8503920" y="1828800"/>
            <a:ext cx="548640" cy="548640"/>
          </a:xfrm>
          <a:prstGeom prst="ellipse">
            <a:avLst/>
          </a:prstGeom>
          <a:solidFill>
            <a:srgbClr val="5FB4A2"/>
          </a:solidFill>
          <a:ln/>
        </p:spPr>
      </p:sp>
      <p:pic>
        <p:nvPicPr>
          <p:cNvPr id="18" name="Image 2" descr="C:\Users\USER\AppData\Local\Temp\claude\C--Users-biche-cloud-heroes-africa-platform\c742e88a-fbba-45b1-8382-f8dad19948a7\scratchpad\pptx-build\icons\help_FFFFFF.png">    </p:cNvPr>
          <p:cNvPicPr>
            <a:picLocks noChangeAspect="1"/>
          </p:cNvPicPr>
          <p:nvPr/>
        </p:nvPicPr>
        <p:blipFill>
          <a:blip r:embed="rId3"/>
          <a:stretch>
            <a:fillRect/>
          </a:stretch>
        </p:blipFill>
        <p:spPr>
          <a:xfrm>
            <a:off x="8631936" y="1956816"/>
            <a:ext cx="292608" cy="292608"/>
          </a:xfrm>
          <a:prstGeom prst="rect">
            <a:avLst/>
          </a:prstGeom>
        </p:spPr>
      </p:pic>
      <p:sp>
        <p:nvSpPr>
          <p:cNvPr id="19" name="Text 14"/>
          <p:cNvSpPr txBox="1"/>
          <p:nvPr/>
        </p:nvSpPr>
        <p:spPr>
          <a:xfrm>
            <a:off x="8503920" y="2606040"/>
            <a:ext cx="2971800" cy="1005840"/>
          </a:xfrm>
          <a:prstGeom prst="rect">
            <a:avLst/>
          </a:prstGeom>
          <a:noFill/>
          <a:ln/>
        </p:spPr>
        <p:txBody>
          <a:bodyPr wrap="square" lIns="0" tIns="0" rIns="0" bIns="0" rtlCol="0" anchor="ctr"/>
          <a:lstStyle/>
          <a:p>
            <a:pPr indent="0" marL="0">
              <a:lnSpc>
                <a:spcPct val="118000"/>
              </a:lnSpc>
              <a:buNone/>
            </a:pPr>
            <a:r>
              <a:rPr lang="en-US" sz="1600" b="1" dirty="0">
                <a:solidFill>
                  <a:srgbClr val="FFFFFF"/>
                </a:solidFill>
                <a:latin typeface="Cambria" pitchFamily="34" charset="0"/>
                <a:ea typeface="Cambria" pitchFamily="34" charset="-122"/>
                <a:cs typeface="Cambria" pitchFamily="34" charset="-120"/>
              </a:rPr>
              <a:t>Who owns the Help Desk tables long-term?</a:t>
            </a:r>
            <a:endParaRPr lang="en-US" sz="1600" dirty="0"/>
          </a:p>
        </p:txBody>
      </p:sp>
      <p:sp>
        <p:nvSpPr>
          <p:cNvPr id="20" name="Shape 15"/>
          <p:cNvSpPr/>
          <p:nvPr/>
        </p:nvSpPr>
        <p:spPr>
          <a:xfrm>
            <a:off x="8503920" y="3657600"/>
            <a:ext cx="2971800" cy="9144"/>
          </a:xfrm>
          <a:prstGeom prst="line">
            <a:avLst/>
          </a:prstGeom>
          <a:noFill/>
          <a:ln w="12700">
            <a:solidFill>
              <a:srgbClr val="3A4570"/>
            </a:solidFill>
            <a:prstDash val="solid"/>
          </a:ln>
        </p:spPr>
      </p:sp>
      <p:sp>
        <p:nvSpPr>
          <p:cNvPr id="21" name="Text 16"/>
          <p:cNvSpPr txBox="1"/>
          <p:nvPr/>
        </p:nvSpPr>
        <p:spPr>
          <a:xfrm>
            <a:off x="8503920" y="3794760"/>
            <a:ext cx="2971800" cy="1554480"/>
          </a:xfrm>
          <a:prstGeom prst="rect">
            <a:avLst/>
          </a:prstGeom>
          <a:noFill/>
          <a:ln/>
        </p:spPr>
        <p:txBody>
          <a:bodyPr wrap="square" lIns="0" tIns="0" rIns="0" bIns="0" rtlCol="0" anchor="ctr"/>
          <a:lstStyle/>
          <a:p>
            <a:pPr indent="0" marL="0">
              <a:lnSpc>
                <a:spcPct val="125000"/>
              </a:lnSpc>
              <a:buNone/>
            </a:pPr>
            <a:r>
              <a:rPr lang="en-US" sz="1200" dirty="0">
                <a:solidFill>
                  <a:srgbClr val="C9DCE6"/>
                </a:solidFill>
                <a:latin typeface="Calibri" pitchFamily="34" charset="0"/>
                <a:ea typeface="Calibri" pitchFamily="34" charset="-122"/>
                <a:cs typeface="Calibri" pitchFamily="34" charset="-120"/>
              </a:rPr>
              <a:t>Student Hub is currently standing in for an “Administration” app that doesn't exist yet — worth confirming whether that's permanent or just for now.</a:t>
            </a:r>
            <a:endParaRPr lang="en-US" sz="1200" dirty="0"/>
          </a:p>
        </p:txBody>
      </p:sp>
      <p:sp>
        <p:nvSpPr>
          <p:cNvPr id="22" name="Text 17"/>
          <p:cNvSpPr txBox="1"/>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How the Platform's Database Is Designed</a:t>
            </a:r>
            <a:endParaRPr lang="en-US" sz="1000" dirty="0"/>
          </a:p>
        </p:txBody>
      </p:sp>
      <p:sp>
        <p:nvSpPr>
          <p:cNvPr id="23" name="Text 18"/>
          <p:cNvSpPr txBox="1"/>
          <p:nvPr/>
        </p:nvSpPr>
        <p:spPr>
          <a:xfrm>
            <a:off x="11338560" y="6528816"/>
            <a:ext cx="45720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2011680" y="4114800"/>
            <a:ext cx="5486400" cy="5486400"/>
          </a:xfrm>
          <a:prstGeom prst="ellipse">
            <a:avLst/>
          </a:prstGeom>
          <a:solidFill>
            <a:srgbClr val="1C7293">
              <a:alpha val="20000"/>
            </a:srgbClr>
          </a:solidFill>
          <a:ln/>
        </p:spPr>
      </p:sp>
      <p:sp>
        <p:nvSpPr>
          <p:cNvPr id="3" name="Text 1"/>
          <p:cNvSpPr txBox="1"/>
          <p:nvPr/>
        </p:nvSpPr>
        <p:spPr>
          <a:xfrm>
            <a:off x="640080" y="640080"/>
            <a:ext cx="7315200" cy="365760"/>
          </a:xfrm>
          <a:prstGeom prst="rect">
            <a:avLst/>
          </a:prstGeom>
          <a:noFill/>
          <a:ln/>
        </p:spPr>
        <p:txBody>
          <a:bodyPr wrap="square" lIns="0" tIns="0" rIns="0" bIns="0" rtlCol="0" anchor="ctr"/>
          <a:lstStyle/>
          <a:p>
            <a:pPr indent="0" marL="0">
              <a:buNone/>
            </a:pPr>
            <a:r>
              <a:rPr lang="en-US" sz="1400" b="1" spc="200" kern="0" dirty="0">
                <a:solidFill>
                  <a:srgbClr val="9FD3E8"/>
                </a:solidFill>
                <a:latin typeface="Calibri" pitchFamily="34" charset="0"/>
                <a:ea typeface="Calibri" pitchFamily="34" charset="-122"/>
                <a:cs typeface="Calibri" pitchFamily="34" charset="-120"/>
              </a:rPr>
              <a:t>WHERE THINGS STAND</a:t>
            </a:r>
            <a:endParaRPr lang="en-US" sz="1400" dirty="0"/>
          </a:p>
        </p:txBody>
      </p:sp>
      <p:sp>
        <p:nvSpPr>
          <p:cNvPr id="4" name="Text 2"/>
          <p:cNvSpPr txBox="1"/>
          <p:nvPr/>
        </p:nvSpPr>
        <p:spPr>
          <a:xfrm>
            <a:off x="640080" y="1005840"/>
            <a:ext cx="10332720" cy="914400"/>
          </a:xfrm>
          <a:prstGeom prst="rect">
            <a:avLst/>
          </a:prstGeom>
          <a:noFill/>
          <a:ln/>
        </p:spPr>
        <p:txBody>
          <a:bodyPr wrap="square" lIns="0" tIns="0" rIns="0" bIns="0" rtlCol="0" anchor="ctr"/>
          <a:lstStyle/>
          <a:p>
            <a:pPr indent="0" marL="0">
              <a:lnSpc>
                <a:spcPct val="110000"/>
              </a:lnSpc>
              <a:buNone/>
            </a:pPr>
            <a:r>
              <a:rPr lang="en-US" sz="2800" b="1" dirty="0">
                <a:solidFill>
                  <a:srgbClr val="FFFFFF"/>
                </a:solidFill>
                <a:latin typeface="Cambria" pitchFamily="34" charset="0"/>
                <a:ea typeface="Cambria" pitchFamily="34" charset="-122"/>
                <a:cs typeface="Cambria" pitchFamily="34" charset="-120"/>
              </a:rPr>
              <a:t>One database, clear ownership rules, three decisions to close out</a:t>
            </a:r>
            <a:endParaRPr lang="en-US" sz="2800" dirty="0"/>
          </a:p>
        </p:txBody>
      </p:sp>
      <p:sp>
        <p:nvSpPr>
          <p:cNvPr id="5" name="Text 3"/>
          <p:cNvSpPr txBox="1"/>
          <p:nvPr/>
        </p:nvSpPr>
        <p:spPr>
          <a:xfrm>
            <a:off x="640080" y="2194560"/>
            <a:ext cx="6949440" cy="2011680"/>
          </a:xfrm>
          <a:prstGeom prst="rect">
            <a:avLst/>
          </a:prstGeom>
          <a:noFill/>
          <a:ln/>
        </p:spPr>
        <p:txBody>
          <a:bodyPr wrap="square" lIns="0" tIns="0" rIns="0" bIns="0" rtlCol="0" anchor="ctr"/>
          <a:lstStyle/>
          <a:p>
            <a:pPr marL="342900" indent="-342900">
              <a:lnSpc>
                <a:spcPct val="135000"/>
              </a:lnSpc>
              <a:spcAft>
                <a:spcPts val="1200"/>
              </a:spcAft>
              <a:buSzPct val="100000"/>
              <a:buChar char="●"/>
            </a:pPr>
            <a:r>
              <a:rPr lang="en-US" sz="1550" dirty="0">
                <a:solidFill>
                  <a:srgbClr val="E4EEF2"/>
                </a:solidFill>
                <a:latin typeface="Calibri" pitchFamily="34" charset="0"/>
                <a:ea typeface="Calibri" pitchFamily="34" charset="-122"/>
                <a:cs typeface="Calibri" pitchFamily="34" charset="-120"/>
              </a:rPr>
              <a:t>Both apps now run on one shared Postgres database via Prisma — the JSON-file era is over.</a:t>
            </a:r>
            <a:endParaRPr lang="en-US" sz="1550" dirty="0"/>
          </a:p>
          <a:p>
            <a:pPr marL="342900" indent="-342900">
              <a:lnSpc>
                <a:spcPct val="135000"/>
              </a:lnSpc>
              <a:spcAft>
                <a:spcPts val="1200"/>
              </a:spcAft>
              <a:buSzPct val="100000"/>
              <a:buChar char="●"/>
            </a:pPr>
            <a:r>
              <a:rPr lang="en-US" sz="1550" dirty="0">
                <a:solidFill>
                  <a:srgbClr val="E4EEF2"/>
                </a:solidFill>
                <a:latin typeface="Calibri" pitchFamily="34" charset="0"/>
                <a:ea typeface="Calibri" pitchFamily="34" charset="-122"/>
                <a:cs typeface="Calibri" pitchFamily="34" charset="-120"/>
              </a:rPr>
              <a:t>Six domains of data are modeled, from identity through a fully built-out assessment engine.</a:t>
            </a:r>
            <a:endParaRPr lang="en-US" sz="1550" dirty="0"/>
          </a:p>
          <a:p>
            <a:pPr marL="342900" indent="-342900">
              <a:lnSpc>
                <a:spcPct val="135000"/>
              </a:lnSpc>
              <a:spcAft>
                <a:spcPts val="1200"/>
              </a:spcAft>
              <a:buSzPct val="100000"/>
              <a:buChar char="●"/>
            </a:pPr>
            <a:r>
              <a:rPr lang="en-US" sz="1550" dirty="0">
                <a:solidFill>
                  <a:srgbClr val="E4EEF2"/>
                </a:solidFill>
                <a:latin typeface="Calibri" pitchFamily="34" charset="0"/>
                <a:ea typeface="Calibri" pitchFamily="34" charset="-122"/>
                <a:cs typeface="Calibri" pitchFamily="34" charset="-120"/>
              </a:rPr>
              <a:t>Clear (temporary) ownership rules keep the two apps from writing over each other.</a:t>
            </a:r>
            <a:endParaRPr lang="en-US" sz="1550" dirty="0"/>
          </a:p>
        </p:txBody>
      </p:sp>
      <p:sp>
        <p:nvSpPr>
          <p:cNvPr id="6" name="Shape 4"/>
          <p:cNvSpPr/>
          <p:nvPr/>
        </p:nvSpPr>
        <p:spPr>
          <a:xfrm>
            <a:off x="640080" y="4434840"/>
            <a:ext cx="10424160" cy="1737360"/>
          </a:xfrm>
          <a:prstGeom prst="roundRect">
            <a:avLst>
              <a:gd name="adj" fmla="val 4211"/>
            </a:avLst>
          </a:prstGeom>
          <a:solidFill>
            <a:srgbClr val="1A2250"/>
          </a:solidFill>
          <a:ln w="12700">
            <a:solidFill>
              <a:srgbClr val="3A4570"/>
            </a:solidFill>
            <a:prstDash val="solid"/>
          </a:ln>
        </p:spPr>
      </p:sp>
      <p:sp>
        <p:nvSpPr>
          <p:cNvPr id="7" name="Text 5"/>
          <p:cNvSpPr txBox="1"/>
          <p:nvPr/>
        </p:nvSpPr>
        <p:spPr>
          <a:xfrm>
            <a:off x="914400" y="4617720"/>
            <a:ext cx="3657600" cy="320040"/>
          </a:xfrm>
          <a:prstGeom prst="rect">
            <a:avLst/>
          </a:prstGeom>
          <a:noFill/>
          <a:ln/>
        </p:spPr>
        <p:txBody>
          <a:bodyPr wrap="square" lIns="0" tIns="0" rIns="0" bIns="0" rtlCol="0" anchor="ctr"/>
          <a:lstStyle/>
          <a:p>
            <a:pPr indent="0" marL="0">
              <a:buNone/>
            </a:pPr>
            <a:r>
              <a:rPr lang="en-US" sz="1200" b="1" spc="100" kern="0" dirty="0">
                <a:solidFill>
                  <a:srgbClr val="5FB4A2"/>
                </a:solidFill>
                <a:latin typeface="Calibri" pitchFamily="34" charset="0"/>
                <a:ea typeface="Calibri" pitchFamily="34" charset="-122"/>
                <a:cs typeface="Calibri" pitchFamily="34" charset="-120"/>
              </a:rPr>
              <a:t>Discuss today:</a:t>
            </a:r>
            <a:endParaRPr lang="en-US" sz="1200" dirty="0"/>
          </a:p>
        </p:txBody>
      </p:sp>
      <p:sp>
        <p:nvSpPr>
          <p:cNvPr id="8" name="Text 6"/>
          <p:cNvSpPr txBox="1"/>
          <p:nvPr/>
        </p:nvSpPr>
        <p:spPr>
          <a:xfrm>
            <a:off x="914400" y="4937760"/>
            <a:ext cx="9875520" cy="1188720"/>
          </a:xfrm>
          <a:prstGeom prst="rect">
            <a:avLst/>
          </a:prstGeom>
          <a:noFill/>
          <a:ln/>
        </p:spPr>
        <p:txBody>
          <a:bodyPr wrap="square" lIns="0" tIns="0" rIns="0" bIns="0" rtlCol="0" anchor="ctr"/>
          <a:lstStyle/>
          <a:p>
            <a:pPr indent="0" marL="0">
              <a:lnSpc>
                <a:spcPct val="130000"/>
              </a:lnSpc>
              <a:buNone/>
            </a:pPr>
            <a:r>
              <a:rPr lang="en-US" sz="1350" dirty="0">
                <a:solidFill>
                  <a:srgbClr val="FFFFFF"/>
                </a:solidFill>
                <a:latin typeface="Calibri" pitchFamily="34" charset="0"/>
                <a:ea typeface="Calibri" pitchFamily="34" charset="-122"/>
                <a:cs typeface="Calibri" pitchFamily="34" charset="-120"/>
              </a:rPr>
              <a:t>1. Assessment data — stays on Postgres, or moves to a separate engine?</a:t>
            </a:r>
            <a:endParaRPr lang="en-US" sz="1350" dirty="0"/>
          </a:p>
          <a:p>
            <a:pPr indent="0" marL="0">
              <a:lnSpc>
                <a:spcPct val="130000"/>
              </a:lnSpc>
              <a:buNone/>
            </a:pPr>
            <a:r>
              <a:rPr lang="en-US" sz="1350" dirty="0">
                <a:solidFill>
                  <a:srgbClr val="FFFFFF"/>
                </a:solidFill>
                <a:latin typeface="Calibri" pitchFamily="34" charset="0"/>
                <a:ea typeface="Calibri" pitchFamily="34" charset="-122"/>
                <a:cs typeface="Calibri" pitchFamily="34" charset="-120"/>
              </a:rPr>
              <a:t>2. Formally close out the “Postgres vs. NoSQL” line in the decision log.</a:t>
            </a:r>
            <a:endParaRPr lang="en-US" sz="1350" dirty="0"/>
          </a:p>
          <a:p>
            <a:pPr indent="0" marL="0">
              <a:lnSpc>
                <a:spcPct val="130000"/>
              </a:lnSpc>
              <a:buNone/>
            </a:pPr>
            <a:r>
              <a:rPr lang="en-US" sz="1350" dirty="0">
                <a:solidFill>
                  <a:srgbClr val="FFFFFF"/>
                </a:solidFill>
                <a:latin typeface="Calibri" pitchFamily="34" charset="0"/>
                <a:ea typeface="Calibri" pitchFamily="34" charset="-122"/>
                <a:cs typeface="Calibri" pitchFamily="34" charset="-120"/>
              </a:rPr>
              <a:t>3. Confirm who owns Help Desk data until Administration is built.</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2026-09-14T09:40:24Z</dcterms:created>
  <dcterms:modified xsi:type="dcterms:W3CDTF">2026-09-14T09:40:24Z</dcterms:modified>
</cp:coreProperties>
</file>